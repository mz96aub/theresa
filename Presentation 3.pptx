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308" r:id="rId3"/>
    <p:sldId id="326" r:id="rId4"/>
    <p:sldId id="321" r:id="rId5"/>
    <p:sldId id="319" r:id="rId6"/>
    <p:sldId id="309" r:id="rId7"/>
    <p:sldId id="310" r:id="rId8"/>
    <p:sldId id="259" r:id="rId9"/>
    <p:sldId id="314" r:id="rId10"/>
    <p:sldId id="315" r:id="rId11"/>
    <p:sldId id="316" r:id="rId12"/>
    <p:sldId id="318" r:id="rId13"/>
    <p:sldId id="317" r:id="rId14"/>
    <p:sldId id="320" r:id="rId15"/>
    <p:sldId id="322" r:id="rId16"/>
    <p:sldId id="323" r:id="rId17"/>
    <p:sldId id="324" r:id="rId18"/>
    <p:sldId id="325" r:id="rId19"/>
    <p:sldId id="272" r:id="rId20"/>
    <p:sldId id="285" r:id="rId21"/>
  </p:sldIdLst>
  <p:sldSz cx="18288000" cy="10287000"/>
  <p:notesSz cx="6858000" cy="9144000"/>
  <p:embeddedFontLst>
    <p:embeddedFont>
      <p:font typeface="ADLaM Display" panose="02010000000000000000" pitchFamily="2" charset="0"/>
      <p:regular r:id="rId23"/>
    </p:embeddedFont>
    <p:embeddedFont>
      <p:font typeface="Aptos Black" panose="020B0004020202020204" pitchFamily="34" charset="0"/>
      <p:bold r:id="rId24"/>
      <p:boldItalic r:id="rId25"/>
    </p:embeddedFont>
    <p:embeddedFont>
      <p:font typeface="Candara Light" panose="020E0502030303020204" pitchFamily="34" charset="0"/>
      <p:regular r:id="rId26"/>
      <p:italic r:id="rId27"/>
    </p:embeddedFont>
    <p:embeddedFont>
      <p:font typeface="Cheddar" panose="020B0604020202020204" charset="0"/>
      <p:regular r:id="rId28"/>
    </p:embeddedFont>
    <p:embeddedFont>
      <p:font typeface="Telegraf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089B7-766A-4F02-AA32-9D86B30901B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02874-9F22-4141-97EC-C728230A9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55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981-96-0139-4_37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333130" y="6567415"/>
            <a:ext cx="4550946" cy="1283135"/>
            <a:chOff x="0" y="-62629"/>
            <a:chExt cx="1146356" cy="3232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2629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PRESENTED BY: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24600" y="7582485"/>
            <a:ext cx="4568005" cy="1819265"/>
            <a:chOff x="-4297" y="-47625"/>
            <a:chExt cx="1150653" cy="3232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F756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4297" y="-47625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Theresa Maria Ghantous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191000" y="2130628"/>
            <a:ext cx="11143621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Federated </a:t>
            </a:r>
            <a:r>
              <a:rPr lang="en-US" sz="9999" dirty="0" err="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learnIng</a:t>
            </a:r>
            <a:r>
              <a:rPr lang="en-US" sz="9999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     &amp; </a:t>
            </a:r>
            <a:r>
              <a:rPr lang="en-US" sz="9999" dirty="0" err="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CybersecurIty</a:t>
            </a:r>
            <a:endParaRPr lang="en-US" sz="9999" dirty="0">
              <a:solidFill>
                <a:srgbClr val="290606"/>
              </a:solidFill>
              <a:latin typeface="Cheddar"/>
              <a:ea typeface="Cheddar"/>
              <a:cs typeface="Cheddar"/>
              <a:sym typeface="Chedd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62600" y="5015604"/>
            <a:ext cx="8694298" cy="85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999" b="1" dirty="0">
                <a:solidFill>
                  <a:srgbClr val="211C2D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FE9EB-E07B-993D-432E-26A2C6463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928B0F7-663C-60D0-B67D-2FF7D9B02A16}"/>
              </a:ext>
            </a:extLst>
          </p:cNvPr>
          <p:cNvSpPr txBox="1"/>
          <p:nvPr/>
        </p:nvSpPr>
        <p:spPr>
          <a:xfrm>
            <a:off x="1295400" y="716681"/>
            <a:ext cx="145542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C00000"/>
                </a:solidFill>
                <a:latin typeface="Cheddar"/>
                <a:ea typeface="Cheddar"/>
                <a:cs typeface="Cheddar"/>
                <a:sym typeface="Cheddar"/>
              </a:rPr>
              <a:t>FL course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9D30954-170A-3FA6-757C-AC0FC0002F6A}"/>
              </a:ext>
            </a:extLst>
          </p:cNvPr>
          <p:cNvSpPr txBox="1"/>
          <p:nvPr/>
        </p:nvSpPr>
        <p:spPr>
          <a:xfrm>
            <a:off x="609600" y="2552381"/>
            <a:ext cx="164592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What is a gradient?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 gradient tells the model how to change its model parameters to reduce the loss.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b) What is the local loss function?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loss computed on a single client’s private dataset. Clients try to minimize this loss during local training.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CBC7FB6B-3F5A-D711-9792-130D289F7D94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3A2F35C7-82F0-82C3-B1FF-05FE6BD2BBA9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0B7F3865-1544-92BE-0CBA-D3A5DEDEF77B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646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26F96-AB07-2F1D-6B2F-587DF10B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7B785BD-477E-0E05-3573-6BE3C7C7D919}"/>
              </a:ext>
            </a:extLst>
          </p:cNvPr>
          <p:cNvSpPr txBox="1"/>
          <p:nvPr/>
        </p:nvSpPr>
        <p:spPr>
          <a:xfrm>
            <a:off x="1295400" y="716681"/>
            <a:ext cx="145542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C00000"/>
                </a:solidFill>
                <a:latin typeface="Cheddar"/>
                <a:ea typeface="Cheddar"/>
                <a:cs typeface="Cheddar"/>
                <a:sym typeface="Cheddar"/>
              </a:rPr>
              <a:t>FL attacks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915168F-27D4-03AD-5F1D-D8E9C164108B}"/>
              </a:ext>
            </a:extLst>
          </p:cNvPr>
          <p:cNvSpPr txBox="1"/>
          <p:nvPr/>
        </p:nvSpPr>
        <p:spPr>
          <a:xfrm>
            <a:off x="609600" y="2552381"/>
            <a:ext cx="164592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Model poisoning: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an attacker intentionally sends fake model updates to the federated server.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Gradient inversion: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an attacker reconstructs training data using gradients. 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Backdoor attacks: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an attacker poisons the model so that it behaves normally for most inputs but produces an incorrect output whenever a hidden trigger is present.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46D63FA-C144-BB34-54AD-FE24BAD0ECB4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56FF140C-0547-D210-0F85-D7BDD4B685DA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30E118E6-00F7-BC78-1D2A-9A6FF39CBEF4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1783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CBEBB-8814-9F4B-9C08-F4953DE76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FC07751-901F-3578-6E19-81B5FA353CE6}"/>
              </a:ext>
            </a:extLst>
          </p:cNvPr>
          <p:cNvSpPr txBox="1"/>
          <p:nvPr/>
        </p:nvSpPr>
        <p:spPr>
          <a:xfrm>
            <a:off x="1295400" y="716681"/>
            <a:ext cx="145542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C00000"/>
                </a:solidFill>
                <a:latin typeface="Cheddar"/>
                <a:ea typeface="Cheddar"/>
                <a:cs typeface="Cheddar"/>
                <a:sym typeface="Cheddar"/>
              </a:rPr>
              <a:t>FL Types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53680E0-9D8A-BA71-9BA1-44872E48C6AA}"/>
              </a:ext>
            </a:extLst>
          </p:cNvPr>
          <p:cNvSpPr txBox="1"/>
          <p:nvPr/>
        </p:nvSpPr>
        <p:spPr>
          <a:xfrm>
            <a:off x="826592" y="3086100"/>
            <a:ext cx="168402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Horizontal FL: same features, different users.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Vertical FL: same users, different features.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Clustered FL: participants are grouped into clusters, and each cluster gets its own model.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Personalized FL: each participant gets its own customized model.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F0030C63-E4D8-FFD0-DD82-DFEF94DEABF2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8925291-8E62-6FDF-90FD-D46D0C27CFCA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A1C56C00-7BED-3E91-26F1-85F3964095CC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541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8E8E1B-33FD-FAA3-B77E-0DCB96BE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2EF0CDE-6BAF-F208-BB10-63D913B78994}"/>
              </a:ext>
            </a:extLst>
          </p:cNvPr>
          <p:cNvSpPr txBox="1"/>
          <p:nvPr/>
        </p:nvSpPr>
        <p:spPr>
          <a:xfrm>
            <a:off x="1295400" y="716681"/>
            <a:ext cx="145542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C00000"/>
                </a:solidFill>
                <a:latin typeface="Cheddar"/>
                <a:ea typeface="Cheddar"/>
                <a:cs typeface="Cheddar"/>
                <a:sym typeface="Cheddar"/>
              </a:rPr>
              <a:t>FL algorithms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BCE127C-9433-B5D8-7FD0-7E8A42BD8E4E}"/>
              </a:ext>
            </a:extLst>
          </p:cNvPr>
          <p:cNvSpPr txBox="1"/>
          <p:nvPr/>
        </p:nvSpPr>
        <p:spPr>
          <a:xfrm>
            <a:off x="2209800" y="2515418"/>
            <a:ext cx="132588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Federated Averaging (</a:t>
            </a:r>
            <a:r>
              <a:rPr lang="en-US" sz="3600" spc="17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FedAVG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)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Federated Proximal (</a:t>
            </a:r>
            <a:r>
              <a:rPr lang="en-US" sz="3600" spc="17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FedProx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)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Federated stochastic gradient descent (</a:t>
            </a:r>
            <a:r>
              <a:rPr lang="en-US" sz="3600" spc="17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FedSGD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)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FedNova</a:t>
            </a: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SCAFOLD 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MOON</a:t>
            </a:r>
          </a:p>
          <a:p>
            <a:pPr marL="742950" indent="-742950">
              <a:lnSpc>
                <a:spcPts val="4200"/>
              </a:lnSpc>
              <a:buFont typeface="+mj-lt"/>
              <a:buAutoNum type="alphaLcParenR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Zeno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5E707BAD-2527-1D4F-ED66-DF7AFF0C34A6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CF42F18A-B1D5-AF38-C781-19F9991EAF6B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34D1E239-9324-A6DE-A09A-63C28E272049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5584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28C2A-6849-2D76-44D9-2610C6474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EC29BD5-A00F-2BCF-1727-EDCF63EFA807}"/>
              </a:ext>
            </a:extLst>
          </p:cNvPr>
          <p:cNvSpPr txBox="1"/>
          <p:nvPr/>
        </p:nvSpPr>
        <p:spPr>
          <a:xfrm>
            <a:off x="1066800" y="268919"/>
            <a:ext cx="871193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a) </a:t>
            </a:r>
            <a:r>
              <a:rPr lang="en-US" sz="5400" spc="342" dirty="0" err="1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FedAVG</a:t>
            </a:r>
            <a:endParaRPr lang="en-US" sz="5400" spc="342" dirty="0">
              <a:solidFill>
                <a:srgbClr val="C00000"/>
              </a:solidFill>
              <a:latin typeface="Aptos Black" panose="020F0502020204030204" pitchFamily="34" charset="0"/>
              <a:ea typeface="Cheddar"/>
              <a:cs typeface="Cheddar"/>
              <a:sym typeface="Chedda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6DA5892-347D-5B23-25FA-DD08949CA5C7}"/>
              </a:ext>
            </a:extLst>
          </p:cNvPr>
          <p:cNvSpPr txBox="1"/>
          <p:nvPr/>
        </p:nvSpPr>
        <p:spPr>
          <a:xfrm>
            <a:off x="438097" y="1494383"/>
            <a:ext cx="17466628" cy="7001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initializes a global model.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sends the model to the selected devices.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device trains the model locally.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device sends the updated model parameters to the server.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computes 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average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of all received model parameters.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averaged model becomes the new global model.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process is repeated.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6A339D9C-A313-CA8A-D2C7-DCC5FCDFF49A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3F0B0206-2382-ECEB-335F-42B514726DFA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E3E64653-FDE4-24EA-8D8D-1C1059166E27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43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AAF73-7A70-3720-BCEE-6CBFA252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FA986F7-76A2-18A9-C705-3291888A8A56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D295AD6-93EA-54FB-7CDC-5042A1921D09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3F91FFF-7AB2-E1B1-5F4A-2AF740481BC6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516802D-5977-7D7D-606A-8CA8C241E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120" y="1377998"/>
            <a:ext cx="9825879" cy="5257800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092C57AE-37CD-FAFF-C58E-11653988DEC3}"/>
              </a:ext>
            </a:extLst>
          </p:cNvPr>
          <p:cNvSpPr txBox="1"/>
          <p:nvPr/>
        </p:nvSpPr>
        <p:spPr>
          <a:xfrm>
            <a:off x="3509121" y="6744294"/>
            <a:ext cx="10202957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Figure 1: Federated Averaging Algorithm</a:t>
            </a:r>
          </a:p>
        </p:txBody>
      </p:sp>
    </p:spTree>
    <p:extLst>
      <p:ext uri="{BB962C8B-B14F-4D97-AF65-F5344CB8AC3E}">
        <p14:creationId xmlns:p14="http://schemas.microsoft.com/office/powerpoint/2010/main" val="500725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6827" y="665823"/>
            <a:ext cx="5878773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C00000"/>
                </a:solidFill>
                <a:latin typeface="Cheddar"/>
                <a:ea typeface="Cheddar"/>
                <a:cs typeface="Cheddar"/>
                <a:sym typeface="Cheddar"/>
              </a:rPr>
              <a:t>Example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2095500"/>
            <a:ext cx="149352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FL-Distributed Intrusion Detection System (FL-DIDS)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Main features: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Federated learning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Lightweight local models (ANN)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Asynchronous federated learning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Encrypted communication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Federated meta-learning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677F9981-571D-B162-CF17-CC2C28780AE3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91A79FD-B644-32CA-0DD8-197CCF54B91C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7B6A164-4721-2459-950E-0907E4DDFE4B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25FD3-61F4-EAE1-4A16-564E3719D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CA38A16-CE0B-AB20-C0DE-E46932932123}"/>
              </a:ext>
            </a:extLst>
          </p:cNvPr>
          <p:cNvSpPr txBox="1"/>
          <p:nvPr/>
        </p:nvSpPr>
        <p:spPr>
          <a:xfrm>
            <a:off x="826827" y="665823"/>
            <a:ext cx="8698173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C00000"/>
                </a:solidFill>
                <a:latin typeface="Cheddar"/>
                <a:ea typeface="Cheddar"/>
                <a:cs typeface="Cheddar"/>
                <a:sym typeface="Cheddar"/>
              </a:rPr>
              <a:t>Example (continued)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63BF5E2-CFB6-BE6A-A57F-6160C25C60F9}"/>
              </a:ext>
            </a:extLst>
          </p:cNvPr>
          <p:cNvSpPr txBox="1"/>
          <p:nvPr/>
        </p:nvSpPr>
        <p:spPr>
          <a:xfrm>
            <a:off x="844004" y="2247900"/>
            <a:ext cx="16599992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How is </a:t>
            </a:r>
            <a:r>
              <a:rPr lang="en-US" sz="3600" spc="171" dirty="0" err="1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FedAvg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used in detecting attacks?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742950" indent="-742950">
              <a:lnSpc>
                <a:spcPts val="4200"/>
              </a:lnSpc>
              <a:buAutoNum type="arabicPeriod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edge node trains its local ANN model.</a:t>
            </a:r>
          </a:p>
          <a:p>
            <a:pPr marL="742950" indent="-742950">
              <a:lnSpc>
                <a:spcPts val="4200"/>
              </a:lnSpc>
              <a:buAutoNum type="arabicPeriod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node updates its model weight.</a:t>
            </a:r>
          </a:p>
          <a:p>
            <a:pPr marL="742950" indent="-742950">
              <a:lnSpc>
                <a:spcPts val="4200"/>
              </a:lnSpc>
              <a:buAutoNum type="arabicPeriod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receives all model weights and computes a weighted average.</a:t>
            </a:r>
          </a:p>
          <a:p>
            <a:pPr marL="742950" indent="-742950">
              <a:lnSpc>
                <a:spcPts val="4200"/>
              </a:lnSpc>
              <a:buAutoNum type="arabicPeriod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sends the new global model back to the nodes.</a:t>
            </a:r>
          </a:p>
          <a:p>
            <a:pPr marL="742950" indent="-742950">
              <a:lnSpc>
                <a:spcPts val="4200"/>
              </a:lnSpc>
              <a:buAutoNum type="arabicPeriod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node has knowledge learned from the entire network. 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095FC43-660A-0DFA-3256-CA1ACFEACA3B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3B868EBB-B8BC-2C42-F71C-AD97ECE31F2D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2E75864-93FC-886F-D870-BA8C7C16DF46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571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9B22D-D4B7-98B3-E86A-A467815C1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46524EE-1993-6485-F7CB-7FD7604C5A58}"/>
              </a:ext>
            </a:extLst>
          </p:cNvPr>
          <p:cNvSpPr txBox="1"/>
          <p:nvPr/>
        </p:nvSpPr>
        <p:spPr>
          <a:xfrm>
            <a:off x="1066800" y="268919"/>
            <a:ext cx="871193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b) </a:t>
            </a:r>
            <a:r>
              <a:rPr lang="en-US" sz="5400" spc="342" dirty="0" err="1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FedProx</a:t>
            </a:r>
            <a:endParaRPr lang="en-US" sz="5400" spc="342" dirty="0">
              <a:solidFill>
                <a:srgbClr val="C00000"/>
              </a:solidFill>
              <a:latin typeface="Aptos Black" panose="020F0502020204030204" pitchFamily="34" charset="0"/>
              <a:ea typeface="Cheddar"/>
              <a:cs typeface="Cheddar"/>
              <a:sym typeface="Chedda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72393BB-639D-2A79-C197-EAD4236B7019}"/>
              </a:ext>
            </a:extLst>
          </p:cNvPr>
          <p:cNvSpPr txBox="1"/>
          <p:nvPr/>
        </p:nvSpPr>
        <p:spPr>
          <a:xfrm>
            <a:off x="381000" y="2245932"/>
            <a:ext cx="17466628" cy="4847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initializes a global model.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sends the model to the selected devices.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device trains the model locally.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An additional regularization term is added to the local loss function to penalize large deviations from the current global model.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device sends updated model parameters to the server.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computes the average of all received model parameters.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averaged model becomes the new global model.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process is repeated.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D47080A8-0259-1BAD-6E03-A22A890528F9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E76497E-3C1F-D5AF-D038-B1DCA9D5B48E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DD6D0D84-E672-AE65-2822-0646B17914C2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1142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2A7D3-3304-7706-7163-A6479376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01803103-7E22-74B9-AF64-9FBC179FBE89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1338982-9785-21F9-43BD-F1A6DE5AA915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3D83AB6A-3D6C-125C-D76C-42CFA1C6480A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F569353-47DD-FB76-54EB-22F07900BC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4" t="5912" r="5034"/>
          <a:stretch>
            <a:fillRect/>
          </a:stretch>
        </p:blipFill>
        <p:spPr>
          <a:xfrm>
            <a:off x="3352800" y="281998"/>
            <a:ext cx="10820401" cy="6829931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37BA0928-3CF1-33CA-6D9B-193EDDAEAACA}"/>
              </a:ext>
            </a:extLst>
          </p:cNvPr>
          <p:cNvSpPr txBox="1"/>
          <p:nvPr/>
        </p:nvSpPr>
        <p:spPr>
          <a:xfrm>
            <a:off x="3352800" y="7226542"/>
            <a:ext cx="120396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Figure 2: Federated Averaging for Intrusion Detection</a:t>
            </a:r>
          </a:p>
        </p:txBody>
      </p:sp>
    </p:spTree>
    <p:extLst>
      <p:ext uri="{BB962C8B-B14F-4D97-AF65-F5344CB8AC3E}">
        <p14:creationId xmlns:p14="http://schemas.microsoft.com/office/powerpoint/2010/main" val="1976458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A1021-5AE4-57FA-0E16-077D3AFA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5C4DD63-97EB-C820-F1D2-81DE48E3A4A2}"/>
              </a:ext>
            </a:extLst>
          </p:cNvPr>
          <p:cNvSpPr txBox="1"/>
          <p:nvPr/>
        </p:nvSpPr>
        <p:spPr>
          <a:xfrm>
            <a:off x="826827" y="665823"/>
            <a:ext cx="5878773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C00000"/>
                </a:solidFill>
                <a:latin typeface="Cheddar"/>
                <a:ea typeface="Cheddar"/>
                <a:cs typeface="Cheddar"/>
                <a:sym typeface="Cheddar"/>
              </a:rPr>
              <a:t>Research gaps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7E98280-FAB6-F352-1A46-4A2E13CF70AA}"/>
              </a:ext>
            </a:extLst>
          </p:cNvPr>
          <p:cNvSpPr txBox="1"/>
          <p:nvPr/>
        </p:nvSpPr>
        <p:spPr>
          <a:xfrm>
            <a:off x="1066800" y="2095500"/>
            <a:ext cx="149352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Existing </a:t>
            </a:r>
            <a:r>
              <a:rPr lang="en-US" sz="3600" spc="171" dirty="0" err="1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FedProx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-based federated intrusion detection systems focus on optimizing the learning algorithm; however, automated feature selection is not yet explored.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Limited research has explored the resilience of </a:t>
            </a:r>
            <a:r>
              <a:rPr lang="en-US" sz="3600" spc="171" dirty="0" err="1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FedProx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-based IDS against federated learning attacks such as model poisoning, gradient inversion, and backdoor attacks.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4D3115F-1417-5429-BDAC-ABC3682B63F5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1EB2C96C-1A77-5CA2-EEA2-E23A8BDD2934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DDAE4D86-C812-D122-7419-716BCC687D22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792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63EA2-C24F-D9E9-FD8A-9F838F39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22A4118-0F19-3BC6-D922-32EFEEB449E3}"/>
              </a:ext>
            </a:extLst>
          </p:cNvPr>
          <p:cNvSpPr txBox="1"/>
          <p:nvPr/>
        </p:nvSpPr>
        <p:spPr>
          <a:xfrm>
            <a:off x="1066800" y="627514"/>
            <a:ext cx="871193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c) </a:t>
            </a:r>
            <a:r>
              <a:rPr lang="en-US" sz="5400" spc="342" dirty="0" err="1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FedSGD</a:t>
            </a:r>
            <a:endParaRPr lang="en-US" sz="5400" spc="342" dirty="0">
              <a:solidFill>
                <a:srgbClr val="C00000"/>
              </a:solidFill>
              <a:latin typeface="Aptos Black" panose="020F0502020204030204" pitchFamily="34" charset="0"/>
              <a:ea typeface="Cheddar"/>
              <a:cs typeface="Cheddar"/>
              <a:sym typeface="Chedda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DDF96C5-E641-912D-34AA-87BB13D2532C}"/>
              </a:ext>
            </a:extLst>
          </p:cNvPr>
          <p:cNvSpPr txBox="1"/>
          <p:nvPr/>
        </p:nvSpPr>
        <p:spPr>
          <a:xfrm>
            <a:off x="381000" y="2245932"/>
            <a:ext cx="17466628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node initializes its local model parameters randomly.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client computes the gradient of the local loss function.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node updates local model parameters.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Each client sends updated encrypted gradients back to the server.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calculates the average of the received gradients.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updates the global model and sends it back to the clients.</a:t>
            </a:r>
          </a:p>
          <a:p>
            <a:pPr marL="742950" indent="-742950">
              <a:lnSpc>
                <a:spcPts val="4200"/>
              </a:lnSpc>
              <a:buFont typeface="+mj-lt"/>
              <a:buAutoNum type="arabicPeriod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process is repeated.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B25BCC7-4382-C095-F9A5-023111A61CC1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50827556-B274-4BF3-F09E-DD76FE5F26D2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8E22C0D6-D4E0-2EB1-24C9-BC8DFCC098F2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8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BDFF0-F18B-2393-AE5D-DDFBF3B7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CC5580B-ADDD-25B7-0F20-589C09852A1D}"/>
              </a:ext>
            </a:extLst>
          </p:cNvPr>
          <p:cNvSpPr txBox="1"/>
          <p:nvPr/>
        </p:nvSpPr>
        <p:spPr>
          <a:xfrm>
            <a:off x="826827" y="665823"/>
            <a:ext cx="5878773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C00000"/>
                </a:solidFill>
                <a:latin typeface="Cheddar"/>
                <a:ea typeface="Cheddar"/>
                <a:cs typeface="Cheddar"/>
                <a:sym typeface="Cheddar"/>
              </a:rPr>
              <a:t>Example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2E02F26-1641-CF83-E930-CDEDF090817D}"/>
              </a:ext>
            </a:extLst>
          </p:cNvPr>
          <p:cNvSpPr txBox="1"/>
          <p:nvPr/>
        </p:nvSpPr>
        <p:spPr>
          <a:xfrm>
            <a:off x="1143000" y="2705100"/>
            <a:ext cx="149352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This methodology is important in network security with distributed sensitive data across multiple nodes. 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It aims to improve the model’s predictions without centralizing the raw data.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223C322-AB97-2714-91A7-4F368FAC7291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376A92EC-D2E1-8D88-DB59-B5FDA88F41D6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858A1B35-7F28-D5A4-B01B-CD09972D8F89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6002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1000D-3946-A458-2C3B-CA06FB60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184DE75-AFF3-198E-007F-66208A1DA680}"/>
              </a:ext>
            </a:extLst>
          </p:cNvPr>
          <p:cNvSpPr txBox="1"/>
          <p:nvPr/>
        </p:nvSpPr>
        <p:spPr>
          <a:xfrm>
            <a:off x="1066800" y="627514"/>
            <a:ext cx="871193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d) </a:t>
            </a:r>
            <a:r>
              <a:rPr lang="en-US" sz="5400" spc="342" dirty="0" err="1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FedNova</a:t>
            </a:r>
            <a:endParaRPr lang="en-US" sz="5400" spc="342" dirty="0">
              <a:solidFill>
                <a:srgbClr val="C00000"/>
              </a:solidFill>
              <a:latin typeface="Aptos Black" panose="020F0502020204030204" pitchFamily="34" charset="0"/>
              <a:ea typeface="Cheddar"/>
              <a:cs typeface="Cheddar"/>
              <a:sym typeface="Chedda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36186F2-CF57-9A93-3F0A-4F125477535C}"/>
              </a:ext>
            </a:extLst>
          </p:cNvPr>
          <p:cNvSpPr txBox="1"/>
          <p:nvPr/>
        </p:nvSpPr>
        <p:spPr>
          <a:xfrm>
            <a:off x="381000" y="2245932"/>
            <a:ext cx="17466628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Problem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different clients have different computational power and train for different numbers of local epochs.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Solution: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</a:t>
            </a:r>
            <a:r>
              <a:rPr lang="en-US" sz="3600" spc="17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FedNova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normalizes each client’s update based on how much local training it performed.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Clients that train longer can have a large influence on the global model.</a:t>
            </a: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Note: an epoch is a complete pass through the entire training dataset.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2AFD585-B2A2-ECCB-2F45-E1DD194A32F1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123FC286-A4B3-1BA3-71F6-D801E680AC20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C7E248D-9C96-34FF-6719-7A05134B5D61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0473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BF14E-6EB1-9E46-A392-61457E2F4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6581C65-2321-D08B-DE8F-B250D379CD86}"/>
              </a:ext>
            </a:extLst>
          </p:cNvPr>
          <p:cNvSpPr txBox="1"/>
          <p:nvPr/>
        </p:nvSpPr>
        <p:spPr>
          <a:xfrm>
            <a:off x="1066800" y="627514"/>
            <a:ext cx="871193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e) SCAFOLD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D5D293E-D1D0-DC43-A83F-A4D8F60DA667}"/>
              </a:ext>
            </a:extLst>
          </p:cNvPr>
          <p:cNvSpPr txBox="1"/>
          <p:nvPr/>
        </p:nvSpPr>
        <p:spPr>
          <a:xfrm>
            <a:off x="381000" y="2245932"/>
            <a:ext cx="17466628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Problem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: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Client drift caused by different data distribution.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Solution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SCAFOLD uses control variates on the client and server side to correct the direction of the local training.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=&gt; Instead of letting clients drift in far directions, the control variates keep them closer to the global optimization path.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DC30E7F-BE21-E258-B5CA-ED7C5BC32AC1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31BBA430-400E-3F72-DBCE-1EBDB55FB8B5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F914BA2-043E-6388-6134-2914779C40C8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392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B25BF-A97C-6D43-C282-007CA596D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4D1AE64-3F4C-DD72-1C28-443D15909280}"/>
              </a:ext>
            </a:extLst>
          </p:cNvPr>
          <p:cNvSpPr txBox="1"/>
          <p:nvPr/>
        </p:nvSpPr>
        <p:spPr>
          <a:xfrm>
            <a:off x="1066800" y="627514"/>
            <a:ext cx="871193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f) MOON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9E4CF80-F7E3-B59E-0BB2-E97AF19E84D8}"/>
              </a:ext>
            </a:extLst>
          </p:cNvPr>
          <p:cNvSpPr txBox="1"/>
          <p:nvPr/>
        </p:nvSpPr>
        <p:spPr>
          <a:xfrm>
            <a:off x="381000" y="2245932"/>
            <a:ext cx="17466628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Problem: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Local model drifting away from the global model.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Solution: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MOON adds a contrastive loss during local training to: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Encourage the model to stay similar to the current global model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Discourage the model from becoming very similar to the previous local model.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ACB167D-9163-E89B-F4A5-67BD56084F5F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8E6BBDAC-2EAF-E20F-762F-1B0F5A4EE21A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6D8B0C7C-EC9B-2AB1-60E6-AB4328EA146E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3816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36A91-397C-6E82-9D42-29ECC3DC0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DE3EF6B-56DC-ECE5-DBDD-F7AA3FD94268}"/>
              </a:ext>
            </a:extLst>
          </p:cNvPr>
          <p:cNvSpPr txBox="1"/>
          <p:nvPr/>
        </p:nvSpPr>
        <p:spPr>
          <a:xfrm>
            <a:off x="1066800" y="627514"/>
            <a:ext cx="871193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solidFill>
                  <a:srgbClr val="C00000"/>
                </a:solidFill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e) Zeno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72FE9DA-A277-310D-3658-32C6F1D73D12}"/>
              </a:ext>
            </a:extLst>
          </p:cNvPr>
          <p:cNvSpPr txBox="1"/>
          <p:nvPr/>
        </p:nvSpPr>
        <p:spPr>
          <a:xfrm>
            <a:off x="381000" y="2245932"/>
            <a:ext cx="17466628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Problem: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malicious client updates.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Solution: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server assigns a score to each client’s updates based on how much it helps reduce the global model loss.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=&gt; Updates that improve the model are kept while the others are ignored.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AF25DE7-956B-B6A2-152C-36621E2B14A0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430BD0FB-E58E-3DB8-E0D4-1425A129BEF0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F592FA1D-1FDB-FB29-B67E-95324FEE0E23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9830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00200" y="1028700"/>
            <a:ext cx="811530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latin typeface="Cheddar"/>
                <a:ea typeface="Cheddar"/>
                <a:cs typeface="Cheddar"/>
                <a:sym typeface="Cheddar"/>
              </a:rPr>
              <a:t>references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C66EA73-6DC6-5ADC-117E-83C0457327FF}"/>
              </a:ext>
            </a:extLst>
          </p:cNvPr>
          <p:cNvSpPr txBox="1"/>
          <p:nvPr/>
        </p:nvSpPr>
        <p:spPr>
          <a:xfrm>
            <a:off x="685800" y="2704948"/>
            <a:ext cx="16078200" cy="6006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000" dirty="0" err="1"/>
              <a:t>Dhabliya</a:t>
            </a:r>
            <a:r>
              <a:rPr lang="en-US" sz="2000" dirty="0"/>
              <a:t>, R., Senthil Ganesh, R., Rizvi, N., Agarwal, K., Deshmukh, G.B., </a:t>
            </a:r>
            <a:r>
              <a:rPr lang="en-US" sz="2000" dirty="0" err="1"/>
              <a:t>Dongare</a:t>
            </a:r>
            <a:r>
              <a:rPr lang="en-US" sz="2000" dirty="0"/>
              <a:t>, S.P. (2025). Towards Trustworthy Networks: A Collaborative Federated 	Learning Paradigm for Security Enhancement. In: Bhateja, V., Patel, P., Simic, M. (eds) Intelligent Data Engineering and Analytics. FICTA 2024 2024. 	Smart Innovation, Systems and Technologies, vol 420. Springer, Singapore. </a:t>
            </a:r>
            <a:r>
              <a:rPr lang="en-US" sz="2000" dirty="0">
                <a:hlinkClick r:id="rId2"/>
              </a:rPr>
              <a:t>https://doi.org/10.1007/978-981-96-0139-4_37</a:t>
            </a:r>
            <a:endParaRPr lang="en-US" sz="2000" dirty="0"/>
          </a:p>
          <a:p>
            <a:pPr>
              <a:lnSpc>
                <a:spcPts val="2880"/>
              </a:lnSpc>
            </a:pPr>
            <a:endParaRPr lang="en-US" sz="2000" dirty="0"/>
          </a:p>
          <a:p>
            <a:pPr>
              <a:lnSpc>
                <a:spcPts val="2880"/>
              </a:lnSpc>
            </a:pPr>
            <a:r>
              <a:rPr lang="en-US" sz="2000" dirty="0"/>
              <a:t>P. Gupta, B. Sengupta and S. Nandi, "Federated Learning-Driven Intrusion Detection for Cybersecurity in Smart Distribution system," </a:t>
            </a:r>
            <a:r>
              <a:rPr lang="en-US" sz="2000" i="1" dirty="0"/>
              <a:t>2024 IEEE </a:t>
            </a:r>
            <a:r>
              <a:rPr lang="en-US" sz="2000" i="1" dirty="0" err="1"/>
              <a:t>Globecom</a:t>
            </a:r>
            <a:r>
              <a:rPr lang="en-US" sz="2000" i="1" dirty="0"/>
              <a:t> 	Workshops (GC </a:t>
            </a:r>
            <a:r>
              <a:rPr lang="en-US" sz="2000" i="1" dirty="0" err="1"/>
              <a:t>Wkshps</a:t>
            </a:r>
            <a:r>
              <a:rPr lang="en-US" sz="2000" i="1" dirty="0"/>
              <a:t>)</a:t>
            </a:r>
            <a:r>
              <a:rPr lang="en-US" sz="2000" dirty="0"/>
              <a:t>, Cape Town, South Africa, 2024, pp. 1-6, </a:t>
            </a:r>
            <a:r>
              <a:rPr lang="en-US" sz="2000" dirty="0" err="1"/>
              <a:t>doi</a:t>
            </a:r>
            <a:r>
              <a:rPr lang="en-US" sz="2000" dirty="0"/>
              <a:t>: 10.1109/GCWkshp64532.2024.11101136.</a:t>
            </a:r>
          </a:p>
          <a:p>
            <a:pPr>
              <a:lnSpc>
                <a:spcPts val="2880"/>
              </a:lnSpc>
            </a:pPr>
            <a:endParaRPr lang="en-US" sz="2000" dirty="0"/>
          </a:p>
          <a:p>
            <a:pPr>
              <a:lnSpc>
                <a:spcPts val="2880"/>
              </a:lnSpc>
            </a:pPr>
            <a:r>
              <a:rPr lang="en-US" sz="2000" dirty="0"/>
              <a:t>F. A. Ahmed, A. Mahmood, M. Sultana and S. Akhter, "</a:t>
            </a:r>
            <a:r>
              <a:rPr lang="en-US" sz="2000" dirty="0" err="1"/>
              <a:t>FedProx</a:t>
            </a:r>
            <a:r>
              <a:rPr lang="en-US" sz="2000" dirty="0"/>
              <a:t>-IDS: A Stable and Scalable Federated Learning Framework for Intrusion Detection," </a:t>
            </a:r>
            <a:r>
              <a:rPr lang="en-US" sz="2000" i="1" dirty="0"/>
              <a:t>2025 28th 	International Conference on Computer and Information Technology (ICCIT)</a:t>
            </a:r>
            <a:r>
              <a:rPr lang="en-US" sz="2000" dirty="0"/>
              <a:t>, Cox's Bazar, Bangladesh, 2025, pp. 682-687, </a:t>
            </a:r>
            <a:r>
              <a:rPr lang="en-US" sz="2000" dirty="0" err="1"/>
              <a:t>doi</a:t>
            </a:r>
            <a:r>
              <a:rPr lang="en-US" sz="2000" dirty="0"/>
              <a:t>: 	10.1109/ICCIT68739.2025.11491541.</a:t>
            </a:r>
          </a:p>
          <a:p>
            <a:pPr>
              <a:lnSpc>
                <a:spcPts val="2880"/>
              </a:lnSpc>
            </a:pPr>
            <a:endParaRPr lang="en-US" sz="2000" dirty="0"/>
          </a:p>
          <a:p>
            <a:pPr>
              <a:lnSpc>
                <a:spcPts val="2880"/>
              </a:lnSpc>
            </a:pPr>
            <a:r>
              <a:rPr lang="en-US" sz="2000" dirty="0"/>
              <a:t>A. B. Said, J. Yao and N. Shahriar, "Federated Learning for DDoS Attack Detection: Enhancing Security with Misclassification Penalties," </a:t>
            </a:r>
            <a:r>
              <a:rPr lang="en-US" sz="2000" i="1" dirty="0"/>
              <a:t>2026 International 	Conference on Computing, Networking and Communications (ICNC)</a:t>
            </a:r>
            <a:r>
              <a:rPr lang="en-US" sz="2000" dirty="0"/>
              <a:t>, Maui, HI, USA, 2026, pp. 154-158, </a:t>
            </a:r>
            <a:r>
              <a:rPr lang="en-US" sz="2000" dirty="0" err="1"/>
              <a:t>doi</a:t>
            </a:r>
            <a:r>
              <a:rPr lang="en-US" sz="2000" dirty="0"/>
              <a:t>: 10.1109/ICNC68183.2026.11416833.</a:t>
            </a:r>
          </a:p>
          <a:p>
            <a:pPr>
              <a:lnSpc>
                <a:spcPts val="2880"/>
              </a:lnSpc>
            </a:pPr>
            <a:endParaRPr lang="en-US" sz="2000" dirty="0"/>
          </a:p>
          <a:p>
            <a:pPr>
              <a:lnSpc>
                <a:spcPts val="2880"/>
              </a:lnSpc>
            </a:pPr>
            <a:r>
              <a:rPr lang="en-US" sz="2000" i="1" dirty="0"/>
              <a:t>CS-E4740 Federated Learning ('25)</a:t>
            </a:r>
            <a:r>
              <a:rPr lang="en-US" sz="2000" dirty="0"/>
              <a:t>. (n.d.). YouTube. https://www.youtube.com/playlist?list=PLrbn2dGrLJK9rB05BObJGIcZP-g2nR28Y</a:t>
            </a:r>
          </a:p>
          <a:p>
            <a:pPr>
              <a:lnSpc>
                <a:spcPts val="2880"/>
              </a:lnSpc>
            </a:pPr>
            <a:endParaRPr lang="en-US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435E0-744F-4576-1EEC-79DEBBA4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36CB7A2-5936-E0B9-3E21-DB4559E3FFDD}"/>
              </a:ext>
            </a:extLst>
          </p:cNvPr>
          <p:cNvSpPr txBox="1"/>
          <p:nvPr/>
        </p:nvSpPr>
        <p:spPr>
          <a:xfrm>
            <a:off x="5715000" y="4644356"/>
            <a:ext cx="6096000" cy="998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9600" spc="342" dirty="0">
                <a:solidFill>
                  <a:srgbClr val="C00000"/>
                </a:solidFill>
                <a:latin typeface="Candara Light" panose="020E0502030303020204" pitchFamily="34" charset="0"/>
                <a:ea typeface="Cheddar"/>
                <a:cs typeface="Cheddar"/>
                <a:sym typeface="Cheddar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9310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3260</TotalTime>
  <Words>1103</Words>
  <Application>Microsoft Office PowerPoint</Application>
  <PresentationFormat>Custom</PresentationFormat>
  <Paragraphs>123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Candara Light</vt:lpstr>
      <vt:lpstr>Telegraf Bold</vt:lpstr>
      <vt:lpstr>Aptos Black</vt:lpstr>
      <vt:lpstr>ADLaM Display</vt:lpstr>
      <vt:lpstr>Cheddar</vt:lpstr>
      <vt:lpstr>Symbol</vt:lpstr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Orange Vibrant Animated AI and Machine Learning Presentation</dc:title>
  <cp:lastModifiedBy>Theresa Maria Ghantous (Student)</cp:lastModifiedBy>
  <cp:revision>36</cp:revision>
  <dcterms:created xsi:type="dcterms:W3CDTF">2006-08-16T00:00:00Z</dcterms:created>
  <dcterms:modified xsi:type="dcterms:W3CDTF">2026-06-26T10:10:13Z</dcterms:modified>
  <dc:identifier>DAHKT9QsfvM</dc:identifier>
</cp:coreProperties>
</file>