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308" r:id="rId3"/>
    <p:sldId id="309" r:id="rId4"/>
    <p:sldId id="312" r:id="rId5"/>
    <p:sldId id="313" r:id="rId6"/>
    <p:sldId id="310" r:id="rId7"/>
    <p:sldId id="259" r:id="rId8"/>
    <p:sldId id="297" r:id="rId9"/>
    <p:sldId id="300" r:id="rId10"/>
    <p:sldId id="298" r:id="rId11"/>
    <p:sldId id="301" r:id="rId12"/>
    <p:sldId id="302" r:id="rId13"/>
    <p:sldId id="303" r:id="rId14"/>
    <p:sldId id="304" r:id="rId15"/>
    <p:sldId id="305" r:id="rId16"/>
    <p:sldId id="272" r:id="rId17"/>
    <p:sldId id="285" r:id="rId18"/>
  </p:sldIdLst>
  <p:sldSz cx="18288000" cy="10287000"/>
  <p:notesSz cx="6858000" cy="9144000"/>
  <p:embeddedFontLst>
    <p:embeddedFont>
      <p:font typeface="ADLaM Display" panose="02010000000000000000" pitchFamily="2" charset="0"/>
      <p:regular r:id="rId20"/>
    </p:embeddedFont>
    <p:embeddedFont>
      <p:font typeface="Aptos Black" panose="020B0004020202020204" pitchFamily="34" charset="0"/>
      <p:bold r:id="rId21"/>
      <p:boldItalic r:id="rId22"/>
    </p:embeddedFont>
    <p:embeddedFont>
      <p:font typeface="Candara Light" panose="020E0502030303020204" pitchFamily="34" charset="0"/>
      <p:regular r:id="rId23"/>
      <p:italic r:id="rId24"/>
    </p:embeddedFont>
    <p:embeddedFont>
      <p:font typeface="Cheddar" panose="020B0604020202020204" charset="0"/>
      <p:regular r:id="rId25"/>
    </p:embeddedFont>
    <p:embeddedFont>
      <p:font typeface="Telegraf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089B7-766A-4F02-AA32-9D86B30901BC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D02874-9F22-4141-97EC-C728230A97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555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29400" y="6428853"/>
            <a:ext cx="4550946" cy="1283135"/>
            <a:chOff x="0" y="-62629"/>
            <a:chExt cx="1146356" cy="3232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2629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PRESENTED BY: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2577" y="7429500"/>
            <a:ext cx="4568005" cy="1819265"/>
            <a:chOff x="-4297" y="-47625"/>
            <a:chExt cx="1150653" cy="3232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6356" cy="227964"/>
            </a:xfrm>
            <a:custGeom>
              <a:avLst/>
              <a:gdLst/>
              <a:ahLst/>
              <a:cxnLst/>
              <a:rect l="l" t="t" r="r" b="b"/>
              <a:pathLst>
                <a:path w="1146356" h="227964">
                  <a:moveTo>
                    <a:pt x="86760" y="0"/>
                  </a:moveTo>
                  <a:lnTo>
                    <a:pt x="1059596" y="0"/>
                  </a:lnTo>
                  <a:cubicBezTo>
                    <a:pt x="1107512" y="0"/>
                    <a:pt x="1146356" y="38844"/>
                    <a:pt x="1146356" y="86760"/>
                  </a:cubicBezTo>
                  <a:lnTo>
                    <a:pt x="1146356" y="141205"/>
                  </a:lnTo>
                  <a:cubicBezTo>
                    <a:pt x="1146356" y="164215"/>
                    <a:pt x="1137215" y="186282"/>
                    <a:pt x="1120945" y="202553"/>
                  </a:cubicBezTo>
                  <a:cubicBezTo>
                    <a:pt x="1104674" y="218823"/>
                    <a:pt x="1082606" y="227964"/>
                    <a:pt x="1059596" y="227964"/>
                  </a:cubicBezTo>
                  <a:lnTo>
                    <a:pt x="86760" y="227964"/>
                  </a:lnTo>
                  <a:cubicBezTo>
                    <a:pt x="38844" y="227964"/>
                    <a:pt x="0" y="189121"/>
                    <a:pt x="0" y="141205"/>
                  </a:cubicBezTo>
                  <a:lnTo>
                    <a:pt x="0" y="86760"/>
                  </a:lnTo>
                  <a:cubicBezTo>
                    <a:pt x="0" y="38844"/>
                    <a:pt x="38844" y="0"/>
                    <a:pt x="86760" y="0"/>
                  </a:cubicBezTo>
                  <a:close/>
                </a:path>
              </a:pathLst>
            </a:custGeom>
            <a:solidFill>
              <a:srgbClr val="F7562B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-4297" y="-47625"/>
              <a:ext cx="1146356" cy="323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 dirty="0">
                  <a:solidFill>
                    <a:srgbClr val="FFFFFF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Theresa Maria Ghantous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191000" y="2130628"/>
            <a:ext cx="11143621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999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ARTIFICIAL INTELLIGENCE &amp; </a:t>
            </a:r>
            <a:r>
              <a:rPr lang="en-US" sz="9999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CybersecurIty</a:t>
            </a:r>
            <a:endParaRPr lang="en-US" sz="9999" dirty="0">
              <a:solidFill>
                <a:srgbClr val="290606"/>
              </a:solidFill>
              <a:latin typeface="Cheddar"/>
              <a:ea typeface="Cheddar"/>
              <a:cs typeface="Cheddar"/>
              <a:sym typeface="Chedd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5715000" y="5005278"/>
            <a:ext cx="8694298" cy="85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5999" b="1" dirty="0">
                <a:solidFill>
                  <a:srgbClr val="211C2D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EFE9EB-E07B-993D-432E-26A2C6463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928B0F7-663C-60D0-B67D-2FF7D9B02A16}"/>
              </a:ext>
            </a:extLst>
          </p:cNvPr>
          <p:cNvSpPr txBox="1"/>
          <p:nvPr/>
        </p:nvSpPr>
        <p:spPr>
          <a:xfrm>
            <a:off x="1295400" y="716681"/>
            <a:ext cx="145542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1-Machine learning in cybersecurity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9D30954-170A-3FA6-757C-AC0FC0002F6A}"/>
              </a:ext>
            </a:extLst>
          </p:cNvPr>
          <p:cNvSpPr txBox="1"/>
          <p:nvPr/>
        </p:nvSpPr>
        <p:spPr>
          <a:xfrm>
            <a:off x="762000" y="2171700"/>
            <a:ext cx="15925800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Before the introduction of machine learning: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malware detection systems relied on manual definition for detecting anomalies.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Problem: 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High manual effort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Scalability limitations (systems grow rapidly, manual rules become impractical)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Human errors (manually defining rules is prone to mistakes)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=&gt; Use machine learning for cyberthreat detection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CBC7FB6B-3F5A-D711-9792-130D289F7D94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A2F35C7-82F0-82C3-B1FF-05FE6BD2BBA9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0B7F3865-1544-92BE-0CBA-D3A5DEDEF77B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646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28C2A-6849-2D76-44D9-2610C6474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BEC29BD5-A00F-2BCF-1727-EDCF63EFA807}"/>
              </a:ext>
            </a:extLst>
          </p:cNvPr>
          <p:cNvSpPr txBox="1"/>
          <p:nvPr/>
        </p:nvSpPr>
        <p:spPr>
          <a:xfrm>
            <a:off x="584461" y="505813"/>
            <a:ext cx="16878869" cy="1762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a) Machine learning in network intrusion detection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6DA5892-347D-5B23-25FA-DD08949CA5C7}"/>
              </a:ext>
            </a:extLst>
          </p:cNvPr>
          <p:cNvSpPr txBox="1"/>
          <p:nvPr/>
        </p:nvSpPr>
        <p:spPr>
          <a:xfrm>
            <a:off x="761999" y="2857500"/>
            <a:ext cx="1592580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router 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forwards network traffic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to a network intrusion detection system (NIDS) that further analyzes data using an ML model.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6A339D9C-A313-CA8A-D2C7-DCC5FCDFF49A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3F0B0206-2382-ECEB-335F-42B514726DFA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E3E64653-FDE4-24EA-8D8D-1C1059166E27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98434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9B456-41AC-6833-E128-6AA51AF73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A48780A2-75BF-D3AD-D9FF-AB44D34503E7}"/>
              </a:ext>
            </a:extLst>
          </p:cNvPr>
          <p:cNvSpPr txBox="1"/>
          <p:nvPr/>
        </p:nvSpPr>
        <p:spPr>
          <a:xfrm>
            <a:off x="584461" y="485910"/>
            <a:ext cx="1687886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b) Machine learning in malware detection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FB622A91-6C18-3DD7-ADDD-5AF37B2426F4}"/>
              </a:ext>
            </a:extLst>
          </p:cNvPr>
          <p:cNvSpPr txBox="1"/>
          <p:nvPr/>
        </p:nvSpPr>
        <p:spPr>
          <a:xfrm>
            <a:off x="616306" y="2019300"/>
            <a:ext cx="17450761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Static malware detection: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ML model analyzes the properties of a given file.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Dynamic malware detection: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file is executed and its behavior is monitored and analyzed by the ML model.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Problems: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attackers can modify the malware without changing its behavior =&gt; ML model cannot detect it (it relies on structural or visual features).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many ML models can only detect previously seen malware =&gt; detecting new attacks is difficult.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107145E7-FD6D-6827-BB66-DAB9F2E6DA21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A9530BE6-D00D-4B54-7FCE-49572DD5191C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8F7A492A-DD5C-D689-2E1D-0D2C75303AB9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4268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50AC08-7D6D-7B86-CF46-C673B2BC3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D64F7ED-A3CA-2E3F-9C7E-B5CB7C706911}"/>
              </a:ext>
            </a:extLst>
          </p:cNvPr>
          <p:cNvSpPr txBox="1"/>
          <p:nvPr/>
        </p:nvSpPr>
        <p:spPr>
          <a:xfrm>
            <a:off x="584461" y="952500"/>
            <a:ext cx="1687886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c) Machine learning in phishing detection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7D91C71-83EC-F758-5BC2-6B65AE3E1FAE}"/>
              </a:ext>
            </a:extLst>
          </p:cNvPr>
          <p:cNvSpPr txBox="1"/>
          <p:nvPr/>
        </p:nvSpPr>
        <p:spPr>
          <a:xfrm>
            <a:off x="617443" y="3162300"/>
            <a:ext cx="159258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Phishing webpage detection: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ML model analyzes the URL, the HTML, or the visual representation of the page.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Phishing email detection: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ML model analyzes the body text, the header or the attachments.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82A7AD16-AB10-B258-4BE8-DBCEF5145749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CC0E9BAA-F752-A5F5-B02D-30F8E09A3672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A8E68A94-4187-0CC6-37B1-4C6DAF66ACE5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820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AAF73-7A70-3720-BCEE-6CBFA252E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6AB7728-5144-F2FF-8825-BE679F3540DF}"/>
              </a:ext>
            </a:extLst>
          </p:cNvPr>
          <p:cNvSpPr txBox="1"/>
          <p:nvPr/>
        </p:nvSpPr>
        <p:spPr>
          <a:xfrm>
            <a:off x="1295400" y="585890"/>
            <a:ext cx="132588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C00000"/>
                </a:solidFill>
                <a:latin typeface="Cheddar"/>
                <a:ea typeface="Cheddar"/>
                <a:cs typeface="Cheddar"/>
                <a:sym typeface="Cheddar"/>
              </a:rPr>
              <a:t>Problems of ML in cybersecurity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5FC9C1C-7B67-0ACA-27BA-FF2CCC841B6A}"/>
              </a:ext>
            </a:extLst>
          </p:cNvPr>
          <p:cNvSpPr txBox="1"/>
          <p:nvPr/>
        </p:nvSpPr>
        <p:spPr>
          <a:xfrm>
            <a:off x="381000" y="2476500"/>
            <a:ext cx="17806462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ML models assume that data analyzed during the training of the model will be 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similar to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 data analyzed after deployment.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Data comes from many different sources 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=&gt; complex preprocessing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Heavy trial-and-error during development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Continuous maintenance is required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Lack of explainability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Weak robustness against adversarial attacks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DFA986F7-76A2-18A9-C705-3291888A8A56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FD295AD6-93EA-54FB-7CDC-5042A1921D09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13F91FFF-7AB2-E1B1-5F4A-2AF740481BC6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072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26827" y="665823"/>
            <a:ext cx="160782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2-Machine learning vs Federated learning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9200" y="2469359"/>
            <a:ext cx="149352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42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ML challenges: </a:t>
            </a:r>
          </a:p>
          <a:p>
            <a:pPr>
              <a:lnSpc>
                <a:spcPts val="4200"/>
              </a:lnSpc>
            </a:pP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- data privacy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			 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	- sensitive user data can leak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	- great amount of the data at the edge of the network is                      	  not used effectively for learning improvement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677F9981-571D-B162-CF17-CC2C28780AE3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91A79FD-B644-32CA-0DD8-197CCF54B91C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7B6A164-4721-2459-950E-0907E4DDFE4B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sp>
        <p:nvSpPr>
          <p:cNvPr id="4" name="Arrow: Right 3">
            <a:extLst>
              <a:ext uri="{FF2B5EF4-FFF2-40B4-BE49-F238E27FC236}">
                <a16:creationId xmlns:a16="http://schemas.microsoft.com/office/drawing/2014/main" id="{CA8C8A5C-7183-337B-223E-B1BC30BBBDAC}"/>
              </a:ext>
            </a:extLst>
          </p:cNvPr>
          <p:cNvSpPr/>
          <p:nvPr/>
        </p:nvSpPr>
        <p:spPr>
          <a:xfrm>
            <a:off x="152400" y="6323571"/>
            <a:ext cx="1371600" cy="312389"/>
          </a:xfrm>
          <a:prstGeom prst="rightArrow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02AD1E53-39C4-5183-0F26-85E8E99ECDF7}"/>
              </a:ext>
            </a:extLst>
          </p:cNvPr>
          <p:cNvSpPr txBox="1"/>
          <p:nvPr/>
        </p:nvSpPr>
        <p:spPr>
          <a:xfrm>
            <a:off x="1660930" y="6131126"/>
            <a:ext cx="14725931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Federated learning: 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enables systems to learn without sharing raw data with the central server.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279A7A-6E08-51FD-4C81-D537EAF75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1AF5AB9-E6A5-7141-B788-279BBA1E41BB}"/>
              </a:ext>
            </a:extLst>
          </p:cNvPr>
          <p:cNvSpPr txBox="1"/>
          <p:nvPr/>
        </p:nvSpPr>
        <p:spPr>
          <a:xfrm>
            <a:off x="762000" y="2171700"/>
            <a:ext cx="16687800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Problem: </a:t>
            </a: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Sharing data with the central server is risky.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Solution: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Use FL to train authentication models locally without sharing user data.</a:t>
            </a: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Remaining challenge: 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It is difficult to verify whether model updates are trustworthy </a:t>
            </a: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Solution: 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Combine FL with </a:t>
            </a:r>
            <a:r>
              <a:rPr lang="en-US" sz="3600" b="1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blockchain</a:t>
            </a: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technology to verify model updates.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8D8505D9-D4DB-6F6A-973D-774793CB6FBD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D7788337-1331-2ED4-B30C-51627930FCCA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D4C7E0C7-31B3-53BF-D769-52734A1DDD6B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sp>
        <p:nvSpPr>
          <p:cNvPr id="4" name="TextBox 2">
            <a:extLst>
              <a:ext uri="{FF2B5EF4-FFF2-40B4-BE49-F238E27FC236}">
                <a16:creationId xmlns:a16="http://schemas.microsoft.com/office/drawing/2014/main" id="{63B3EA65-7709-BA07-3595-4CC277590660}"/>
              </a:ext>
            </a:extLst>
          </p:cNvPr>
          <p:cNvSpPr txBox="1"/>
          <p:nvPr/>
        </p:nvSpPr>
        <p:spPr>
          <a:xfrm>
            <a:off x="361669" y="749146"/>
            <a:ext cx="109217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a) FL for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192467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AA736-635E-F874-A969-CDC837775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277FC58-E2AB-8D40-EA92-F892BB190BDC}"/>
              </a:ext>
            </a:extLst>
          </p:cNvPr>
          <p:cNvSpPr txBox="1"/>
          <p:nvPr/>
        </p:nvSpPr>
        <p:spPr>
          <a:xfrm>
            <a:off x="678070" y="1853928"/>
            <a:ext cx="1592580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Problem: </a:t>
            </a: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Intrusion detection systems (IDS) might fail to detect unknown attacks.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Anomaly detection techniques have a high rate of false detections.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In IoT applications, each node has different types of sensors. =&gt; attacks differ from one node to the other.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endParaRPr lang="en-US" sz="3600" spc="171" dirty="0">
              <a:solidFill>
                <a:srgbClr val="290606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Solution: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290606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- Through FL, IDS and anomaly detection algorithms are executed on local devices which customizes defense mechanisms for each device.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1EE5694D-6A94-C524-2E3F-F51D2753D5DB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7298BDF1-9B33-0D44-E063-8ACE0B3D8037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22E24C73-7DA3-0617-3951-A838AF7E28DB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sp>
        <p:nvSpPr>
          <p:cNvPr id="4" name="TextBox 2">
            <a:extLst>
              <a:ext uri="{FF2B5EF4-FFF2-40B4-BE49-F238E27FC236}">
                <a16:creationId xmlns:a16="http://schemas.microsoft.com/office/drawing/2014/main" id="{4ED5EB5B-8062-AE2F-1C86-989379EEE9B6}"/>
              </a:ext>
            </a:extLst>
          </p:cNvPr>
          <p:cNvSpPr txBox="1"/>
          <p:nvPr/>
        </p:nvSpPr>
        <p:spPr>
          <a:xfrm>
            <a:off x="361669" y="467398"/>
            <a:ext cx="10921739" cy="865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5400" spc="342" dirty="0">
                <a:latin typeface="Aptos Black" panose="020F0502020204030204" pitchFamily="34" charset="0"/>
                <a:ea typeface="Cheddar"/>
                <a:cs typeface="Cheddar"/>
                <a:sym typeface="Cheddar"/>
              </a:rPr>
              <a:t>b) FL for attack detection</a:t>
            </a:r>
          </a:p>
        </p:txBody>
      </p:sp>
    </p:spTree>
    <p:extLst>
      <p:ext uri="{BB962C8B-B14F-4D97-AF65-F5344CB8AC3E}">
        <p14:creationId xmlns:p14="http://schemas.microsoft.com/office/powerpoint/2010/main" val="2740097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644133-112A-F23C-05B3-DE27389F5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7B7E7FA-344C-99DF-7FC8-2C7128B2F586}"/>
              </a:ext>
            </a:extLst>
          </p:cNvPr>
          <p:cNvSpPr txBox="1"/>
          <p:nvPr/>
        </p:nvSpPr>
        <p:spPr>
          <a:xfrm>
            <a:off x="1295400" y="723900"/>
            <a:ext cx="132588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Challenges and possible solutions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02C4CC0-2B42-8A3C-7A25-6430060EA4D4}"/>
              </a:ext>
            </a:extLst>
          </p:cNvPr>
          <p:cNvSpPr txBox="1"/>
          <p:nvPr/>
        </p:nvSpPr>
        <p:spPr>
          <a:xfrm>
            <a:off x="762000" y="2781300"/>
            <a:ext cx="159258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Inference attacks: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users’ training data might be partially revealed using FL model’s parameters.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use the invisibility cloak algorithm to mask users’ data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D426F205-8010-FA69-FBBC-4984CA1528EF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49F5CBF0-3BA7-CF24-3B31-912CB1D9781F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F111A74-4761-5A45-6B88-3FB700DB9BD0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1316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822702-F51E-89A7-17B9-2254AEDD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FE731984-F9EA-8D96-7243-1A4EB4923451}"/>
              </a:ext>
            </a:extLst>
          </p:cNvPr>
          <p:cNvSpPr txBox="1"/>
          <p:nvPr/>
        </p:nvSpPr>
        <p:spPr>
          <a:xfrm>
            <a:off x="1295400" y="723900"/>
            <a:ext cx="132588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Challenges and possible solutions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7607FAF-7721-7043-7630-3D7124E5F230}"/>
              </a:ext>
            </a:extLst>
          </p:cNvPr>
          <p:cNvSpPr txBox="1"/>
          <p:nvPr/>
        </p:nvSpPr>
        <p:spPr>
          <a:xfrm>
            <a:off x="762000" y="2747764"/>
            <a:ext cx="15925800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Backdoor attacks: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it happens during an injection of a malicious task in the FL model without affecting the rate of accuracy</a:t>
            </a: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SAFELearning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is a methodology enabling the FL model to detect this type of attacks while the aggregation of the model parameters happen.</a:t>
            </a: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CCF2C570-6158-B2C1-360F-0165F9A3E9A0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59B4C921-8C56-57ED-DF20-4F73C368FCBE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C6DA2775-5B3A-6DF0-24C3-827DD0E19601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576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C071A-0CC7-9C68-8A67-EA9BFFC9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96F51860-6870-3B1A-BBDA-B640F0D6203D}"/>
              </a:ext>
            </a:extLst>
          </p:cNvPr>
          <p:cNvSpPr txBox="1"/>
          <p:nvPr/>
        </p:nvSpPr>
        <p:spPr>
          <a:xfrm>
            <a:off x="1295400" y="723900"/>
            <a:ext cx="132588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Challenges and possible solutions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E078D7E-06F4-B074-309A-A0B35709E9AD}"/>
              </a:ext>
            </a:extLst>
          </p:cNvPr>
          <p:cNvSpPr txBox="1"/>
          <p:nvPr/>
        </p:nvSpPr>
        <p:spPr>
          <a:xfrm>
            <a:off x="762000" y="2171700"/>
            <a:ext cx="15925800" cy="269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Adversarial attacks: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“adversarial” clients try to infer the information of other clients after obtaining the global model.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Some models like </a:t>
            </a: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PoisonGan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and </a:t>
            </a: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DataGen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reconstruct victim’s data iteratively using model parameters.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5922DF0E-CBBC-AC1D-CF5A-2D496AC9F1D7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7C3555A4-76D5-9C97-EBF0-59C57C829B31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657837EB-D0C5-3630-77CC-F09742158DA5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6869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51C4EF-F25A-1082-6082-BB34722A3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6F1572A-E906-BB4A-14FF-568868C5F04C}"/>
              </a:ext>
            </a:extLst>
          </p:cNvPr>
          <p:cNvSpPr txBox="1"/>
          <p:nvPr/>
        </p:nvSpPr>
        <p:spPr>
          <a:xfrm>
            <a:off x="1295400" y="723900"/>
            <a:ext cx="132588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Challenges and possible solutions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E630405-8944-752F-4E1A-ADEACDFD91B4}"/>
              </a:ext>
            </a:extLst>
          </p:cNvPr>
          <p:cNvSpPr txBox="1"/>
          <p:nvPr/>
        </p:nvSpPr>
        <p:spPr>
          <a:xfrm>
            <a:off x="609600" y="2124539"/>
            <a:ext cx="15925800" cy="538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Free riding attacks: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they happen when some clients inject dummy parameters to update the global model without training with their local data.</a:t>
            </a: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Use 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blockchain-based FL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: </a:t>
            </a:r>
            <a:r>
              <a:rPr lang="en-US" sz="3600" spc="17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BytoChain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is a proposed framework to verify models.</a:t>
            </a: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Note: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blockchain-based FL: after clients train locally and send model updates, the blockchain </a:t>
            </a: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stores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and </a:t>
            </a:r>
            <a:r>
              <a:rPr lang="en-US" sz="3600" b="1" u="sng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verifies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these updates. (verifiable, trustworthy)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1DB8026E-5F15-1A9B-CCAC-A4BC71B51D7B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98F2DF76-D7A4-693A-7143-97294336CC4F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59ABDE70-D8B1-CB15-7D8A-95DB906FBA2A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13254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5F0A06-1C19-65BE-B43E-F4344F7B4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A8F523D-C63F-04AE-ED63-7C850F0EECFA}"/>
              </a:ext>
            </a:extLst>
          </p:cNvPr>
          <p:cNvSpPr txBox="1"/>
          <p:nvPr/>
        </p:nvSpPr>
        <p:spPr>
          <a:xfrm>
            <a:off x="1295400" y="723900"/>
            <a:ext cx="132588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3-Explainable AI in cybersecurity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90AB56B-0F96-644A-0423-184BCE0DA810}"/>
              </a:ext>
            </a:extLst>
          </p:cNvPr>
          <p:cNvSpPr txBox="1"/>
          <p:nvPr/>
        </p:nvSpPr>
        <p:spPr>
          <a:xfrm>
            <a:off x="761999" y="2171700"/>
            <a:ext cx="16885461" cy="59246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AI in cybersecurity: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Main problem: 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ML/DL models give no reasoning (black-box nature), difficult to understand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IDS models might classify a traffic as malicious or normal without justification</a:t>
            </a:r>
          </a:p>
          <a:p>
            <a:pPr marL="571500" indent="-571500">
              <a:lnSpc>
                <a:spcPts val="4200"/>
              </a:lnSpc>
              <a:buFontTx/>
              <a:buChar char="-"/>
            </a:pP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Misclassification of attacks</a:t>
            </a:r>
          </a:p>
          <a:p>
            <a:pPr>
              <a:lnSpc>
                <a:spcPts val="4200"/>
              </a:lnSpc>
            </a:pPr>
            <a:endParaRPr lang="en-US" sz="3600" spc="171" dirty="0">
              <a:solidFill>
                <a:srgbClr val="C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  <a:p>
            <a:pPr marL="571500" indent="-571500">
              <a:lnSpc>
                <a:spcPts val="4200"/>
              </a:lnSpc>
              <a:buFont typeface="Symbol" panose="05050102010706020507" pitchFamily="18" charset="2"/>
              <a:buChar char="Þ"/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XAI in cybersecurity: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it focuses on making cybersecurity systems understandable to humans.</a:t>
            </a:r>
          </a:p>
          <a:p>
            <a:pPr>
              <a:lnSpc>
                <a:spcPts val="4200"/>
              </a:lnSpc>
            </a:pPr>
            <a:endParaRPr lang="en-US" sz="3600" spc="17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  <a:sym typeface="Telegraf"/>
            </a:endParaRP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E06AD32B-5988-8258-7FB1-32544CE8C579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9797DE04-6F4C-6CD4-B33A-92923DB6AC82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799A212D-8108-7F12-17A2-47AD4C284EF7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1719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CCA94-B8DD-F372-53FE-C60625DDF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8C129A62-C6D4-7717-D8DE-AEEAF33BBABC}"/>
              </a:ext>
            </a:extLst>
          </p:cNvPr>
          <p:cNvSpPr txBox="1"/>
          <p:nvPr/>
        </p:nvSpPr>
        <p:spPr>
          <a:xfrm>
            <a:off x="914400" y="973173"/>
            <a:ext cx="132588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How is </a:t>
            </a:r>
            <a:r>
              <a:rPr lang="en-US" sz="6999" spc="342" dirty="0" err="1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xAI</a:t>
            </a: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 used in cybersecurity?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AC26F57-F396-1212-2879-00C8A52ED8C5}"/>
              </a:ext>
            </a:extLst>
          </p:cNvPr>
          <p:cNvSpPr txBox="1"/>
          <p:nvPr/>
        </p:nvSpPr>
        <p:spPr>
          <a:xfrm>
            <a:off x="1041665" y="2781300"/>
            <a:ext cx="159258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1- 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use interpretable models (decision trees, logistic rule regression…)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2-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add explanation methods to ML models (SHAP, LIME…)</a:t>
            </a:r>
          </a:p>
          <a:p>
            <a:pPr>
              <a:lnSpc>
                <a:spcPts val="4200"/>
              </a:lnSpc>
            </a:pPr>
            <a:r>
              <a:rPr lang="en-US" sz="3600" spc="171" dirty="0">
                <a:solidFill>
                  <a:srgbClr val="C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3-</a:t>
            </a:r>
            <a:r>
              <a:rPr lang="en-US" sz="3600" spc="17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  <a:sym typeface="Telegraf"/>
              </a:rPr>
              <a:t> combine ML prediction model and explanation module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5531E323-6BC6-13A3-DA07-79B94D910572}"/>
              </a:ext>
            </a:extLst>
          </p:cNvPr>
          <p:cNvGrpSpPr/>
          <p:nvPr/>
        </p:nvGrpSpPr>
        <p:grpSpPr>
          <a:xfrm>
            <a:off x="361669" y="8279308"/>
            <a:ext cx="17305123" cy="1738773"/>
            <a:chOff x="-2765" y="-57150"/>
            <a:chExt cx="2475189" cy="457948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2CC0CE09-419D-7EB0-3EFD-301D718FA5AD}"/>
                </a:ext>
              </a:extLst>
            </p:cNvPr>
            <p:cNvSpPr/>
            <p:nvPr/>
          </p:nvSpPr>
          <p:spPr>
            <a:xfrm>
              <a:off x="0" y="0"/>
              <a:ext cx="2472424" cy="343648"/>
            </a:xfrm>
            <a:custGeom>
              <a:avLst/>
              <a:gdLst/>
              <a:ahLst/>
              <a:cxnLst/>
              <a:rect l="l" t="t" r="r" b="b"/>
              <a:pathLst>
                <a:path w="2472424" h="343648">
                  <a:moveTo>
                    <a:pt x="42060" y="0"/>
                  </a:moveTo>
                  <a:lnTo>
                    <a:pt x="2430364" y="0"/>
                  </a:lnTo>
                  <a:cubicBezTo>
                    <a:pt x="2453593" y="0"/>
                    <a:pt x="2472424" y="18831"/>
                    <a:pt x="2472424" y="42060"/>
                  </a:cubicBezTo>
                  <a:lnTo>
                    <a:pt x="2472424" y="301588"/>
                  </a:lnTo>
                  <a:cubicBezTo>
                    <a:pt x="2472424" y="324817"/>
                    <a:pt x="2453593" y="343648"/>
                    <a:pt x="2430364" y="343648"/>
                  </a:cubicBezTo>
                  <a:lnTo>
                    <a:pt x="42060" y="343648"/>
                  </a:lnTo>
                  <a:cubicBezTo>
                    <a:pt x="30905" y="343648"/>
                    <a:pt x="20207" y="339217"/>
                    <a:pt x="12319" y="331329"/>
                  </a:cubicBezTo>
                  <a:cubicBezTo>
                    <a:pt x="4431" y="323442"/>
                    <a:pt x="0" y="312743"/>
                    <a:pt x="0" y="301588"/>
                  </a:cubicBezTo>
                  <a:lnTo>
                    <a:pt x="0" y="42060"/>
                  </a:lnTo>
                  <a:cubicBezTo>
                    <a:pt x="0" y="18831"/>
                    <a:pt x="18831" y="0"/>
                    <a:pt x="42060" y="0"/>
                  </a:cubicBezTo>
                  <a:close/>
                </a:path>
              </a:pathLst>
            </a:custGeom>
            <a:solidFill>
              <a:srgbClr val="02B67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9D0A0D16-7153-1815-9F55-6D096E90842A}"/>
                </a:ext>
              </a:extLst>
            </p:cNvPr>
            <p:cNvSpPr txBox="1"/>
            <p:nvPr/>
          </p:nvSpPr>
          <p:spPr>
            <a:xfrm>
              <a:off x="-2765" y="-57150"/>
              <a:ext cx="2472424" cy="457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900"/>
                </a:lnSpc>
              </a:pPr>
              <a:endParaRPr lang="en-US" sz="3500" b="1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2915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600200" y="1028700"/>
            <a:ext cx="8115300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342" dirty="0">
                <a:solidFill>
                  <a:srgbClr val="290606"/>
                </a:solidFill>
                <a:latin typeface="Cheddar"/>
                <a:ea typeface="Cheddar"/>
                <a:cs typeface="Cheddar"/>
                <a:sym typeface="Cheddar"/>
              </a:rPr>
              <a:t>references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6C66EA73-6DC6-5ADC-117E-83C0457327FF}"/>
              </a:ext>
            </a:extLst>
          </p:cNvPr>
          <p:cNvSpPr txBox="1"/>
          <p:nvPr/>
        </p:nvSpPr>
        <p:spPr>
          <a:xfrm>
            <a:off x="1001404" y="2933700"/>
            <a:ext cx="16078200" cy="3313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r>
              <a:rPr lang="en-US" sz="2400" dirty="0" err="1"/>
              <a:t>Alazab</a:t>
            </a:r>
            <a:r>
              <a:rPr lang="en-US" sz="2400" dirty="0"/>
              <a:t>, M., Rm, S. P., M, P., </a:t>
            </a:r>
            <a:r>
              <a:rPr lang="en-US" sz="2400" dirty="0" err="1"/>
              <a:t>Maddikunta</a:t>
            </a:r>
            <a:r>
              <a:rPr lang="en-US" sz="2400" dirty="0"/>
              <a:t>, P. K. R., </a:t>
            </a:r>
            <a:r>
              <a:rPr lang="en-US" sz="2400" dirty="0" err="1"/>
              <a:t>Gadekallu</a:t>
            </a:r>
            <a:r>
              <a:rPr lang="en-US" sz="2400" dirty="0"/>
              <a:t>, T. R., &amp; Pham, Q. (2021). Federated Learning for Cybersecurity: 	Concepts, challenges, and future directions. </a:t>
            </a:r>
            <a:r>
              <a:rPr lang="en-US" sz="2400" i="1" dirty="0"/>
              <a:t>IEEE Transactions on Industrial Informatics</a:t>
            </a:r>
            <a:r>
              <a:rPr lang="en-US" sz="2400" dirty="0"/>
              <a:t>, </a:t>
            </a:r>
            <a:r>
              <a:rPr lang="en-US" sz="2400" i="1" dirty="0"/>
              <a:t>18</a:t>
            </a:r>
            <a:r>
              <a:rPr lang="en-US" sz="2400" dirty="0"/>
              <a:t>(5), 3501–	3509. https://doi.org/10.1109/tii.2021.3119038</a:t>
            </a:r>
          </a:p>
          <a:p>
            <a:pPr>
              <a:lnSpc>
                <a:spcPts val="2880"/>
              </a:lnSpc>
            </a:pPr>
            <a:endParaRPr lang="en-US" sz="2400" dirty="0"/>
          </a:p>
          <a:p>
            <a:pPr>
              <a:lnSpc>
                <a:spcPts val="2880"/>
              </a:lnSpc>
            </a:pPr>
            <a:r>
              <a:rPr lang="en-US" sz="2400" dirty="0"/>
              <a:t>Capuano, N., </a:t>
            </a:r>
            <a:r>
              <a:rPr lang="en-US" sz="2400" dirty="0" err="1"/>
              <a:t>Fenza</a:t>
            </a:r>
            <a:r>
              <a:rPr lang="en-US" sz="2400" dirty="0"/>
              <a:t>, G., Loia, V., &amp; Stanzione, C. (2022). Explainable Artificial Intelligence in </a:t>
            </a:r>
            <a:r>
              <a:rPr lang="en-US" sz="2400" dirty="0" err="1"/>
              <a:t>CyberSecurity</a:t>
            </a:r>
            <a:r>
              <a:rPr lang="en-US" sz="2400" dirty="0"/>
              <a:t>: a survey. </a:t>
            </a:r>
            <a:r>
              <a:rPr lang="en-US" sz="2400" i="1" dirty="0"/>
              <a:t>IEEE 	Access</a:t>
            </a:r>
            <a:r>
              <a:rPr lang="en-US" sz="2400" dirty="0"/>
              <a:t>, </a:t>
            </a:r>
            <a:r>
              <a:rPr lang="en-US" sz="2400" i="1" dirty="0"/>
              <a:t>10</a:t>
            </a:r>
            <a:r>
              <a:rPr lang="en-US" sz="2400" dirty="0"/>
              <a:t>, 93575–93600. https://doi.org/10.1109/access.2022.3204171</a:t>
            </a:r>
          </a:p>
          <a:p>
            <a:pPr>
              <a:lnSpc>
                <a:spcPts val="2880"/>
              </a:lnSpc>
            </a:pPr>
            <a:endParaRPr lang="en-US" sz="2400" dirty="0"/>
          </a:p>
          <a:p>
            <a:pPr>
              <a:lnSpc>
                <a:spcPts val="2880"/>
              </a:lnSpc>
            </a:pPr>
            <a:r>
              <a:rPr lang="en-US" sz="2400" dirty="0"/>
              <a:t>Apruzzese, G., </a:t>
            </a:r>
            <a:r>
              <a:rPr lang="en-US" sz="2400" dirty="0" err="1"/>
              <a:t>Laskov</a:t>
            </a:r>
            <a:r>
              <a:rPr lang="en-US" sz="2400" dirty="0"/>
              <a:t>, P., De Oca, E. M., </a:t>
            </a:r>
            <a:r>
              <a:rPr lang="en-US" sz="2400" dirty="0" err="1"/>
              <a:t>Mallouli</a:t>
            </a:r>
            <a:r>
              <a:rPr lang="en-US" sz="2400" dirty="0"/>
              <a:t>, W., Rapa, L. B., </a:t>
            </a:r>
            <a:r>
              <a:rPr lang="en-US" sz="2400" dirty="0" err="1"/>
              <a:t>Grammatopoulos</a:t>
            </a:r>
            <a:r>
              <a:rPr lang="en-US" sz="2400" dirty="0"/>
              <a:t>, A. V., &amp; Di Franco, F. (2022). The role of 	machine learning in cybersecurity. </a:t>
            </a:r>
            <a:r>
              <a:rPr lang="en-US" sz="2400" i="1" dirty="0"/>
              <a:t>Digital Threats Research and Practice</a:t>
            </a:r>
            <a:r>
              <a:rPr lang="en-US" sz="2400" dirty="0"/>
              <a:t>, </a:t>
            </a:r>
            <a:r>
              <a:rPr lang="en-US" sz="2400" i="1" dirty="0"/>
              <a:t>4</a:t>
            </a:r>
            <a:r>
              <a:rPr lang="en-US" sz="2400" dirty="0"/>
              <a:t>(1), 1–38. https://doi.org/10.1145/3545574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435E0-744F-4576-1EEC-79DEBBA42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36CB7A2-5936-E0B9-3E21-DB4559E3FFDD}"/>
              </a:ext>
            </a:extLst>
          </p:cNvPr>
          <p:cNvSpPr txBox="1"/>
          <p:nvPr/>
        </p:nvSpPr>
        <p:spPr>
          <a:xfrm>
            <a:off x="5715000" y="4644356"/>
            <a:ext cx="6096000" cy="9982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9600" spc="342" dirty="0">
                <a:solidFill>
                  <a:srgbClr val="C00000"/>
                </a:solidFill>
                <a:latin typeface="Candara Light" panose="020E0502030303020204" pitchFamily="34" charset="0"/>
                <a:ea typeface="Cheddar"/>
                <a:cs typeface="Cheddar"/>
                <a:sym typeface="Cheddar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29310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2201</TotalTime>
  <Words>955</Words>
  <Application>Microsoft Office PowerPoint</Application>
  <PresentationFormat>Custom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Cheddar</vt:lpstr>
      <vt:lpstr>Symbol</vt:lpstr>
      <vt:lpstr>Aptos</vt:lpstr>
      <vt:lpstr>Arial</vt:lpstr>
      <vt:lpstr>Calibri</vt:lpstr>
      <vt:lpstr>Candara Light</vt:lpstr>
      <vt:lpstr>Telegraf Bold</vt:lpstr>
      <vt:lpstr>Aptos Black</vt:lpstr>
      <vt:lpstr>ADLaM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Orange Vibrant Animated AI and Machine Learning Presentation</dc:title>
  <cp:lastModifiedBy>Theresa Maria Ghantous (Student)</cp:lastModifiedBy>
  <cp:revision>26</cp:revision>
  <dcterms:created xsi:type="dcterms:W3CDTF">2006-08-16T00:00:00Z</dcterms:created>
  <dcterms:modified xsi:type="dcterms:W3CDTF">2026-06-05T11:59:52Z</dcterms:modified>
  <dc:identifier>DAHKT9QsfvM</dc:identifier>
</cp:coreProperties>
</file>