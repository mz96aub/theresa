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65" r:id="rId3"/>
    <p:sldId id="259" r:id="rId4"/>
    <p:sldId id="274" r:id="rId5"/>
    <p:sldId id="275" r:id="rId6"/>
    <p:sldId id="276" r:id="rId7"/>
    <p:sldId id="277" r:id="rId8"/>
    <p:sldId id="278" r:id="rId9"/>
    <p:sldId id="293" r:id="rId10"/>
    <p:sldId id="294" r:id="rId11"/>
    <p:sldId id="280" r:id="rId12"/>
    <p:sldId id="281" r:id="rId13"/>
    <p:sldId id="282" r:id="rId14"/>
    <p:sldId id="283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5" r:id="rId23"/>
    <p:sldId id="267" r:id="rId24"/>
    <p:sldId id="272" r:id="rId25"/>
    <p:sldId id="285" r:id="rId26"/>
  </p:sldIdLst>
  <p:sldSz cx="18288000" cy="10287000"/>
  <p:notesSz cx="6858000" cy="9144000"/>
  <p:embeddedFontLst>
    <p:embeddedFont>
      <p:font typeface="ADLaM Display" panose="02010000000000000000" pitchFamily="2" charset="0"/>
      <p:regular r:id="rId28"/>
    </p:embeddedFont>
    <p:embeddedFont>
      <p:font typeface="Candara Light" panose="020E0502030303020204" pitchFamily="34" charset="0"/>
      <p:regular r:id="rId29"/>
      <p:italic r:id="rId30"/>
    </p:embeddedFont>
    <p:embeddedFont>
      <p:font typeface="Cheddar" panose="020B0604020202020204" charset="0"/>
      <p:regular r:id="rId31"/>
    </p:embeddedFont>
    <p:embeddedFont>
      <p:font typeface="Telegraf" panose="020B0604020202020204" charset="0"/>
      <p:regular r:id="rId32"/>
    </p:embeddedFont>
    <p:embeddedFont>
      <p:font typeface="Telegraf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089B7-766A-4F02-AA32-9D86B30901BC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02874-9F22-4141-97EC-C728230A9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55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3-030-69128-8_2" TargetMode="External"/><Relationship Id="rId7" Type="http://schemas.openxmlformats.org/officeDocument/2006/relationships/hyperlink" Target="https://doi.org/10.1145/3611643.3613900" TargetMode="External"/><Relationship Id="rId2" Type="http://schemas.openxmlformats.org/officeDocument/2006/relationships/hyperlink" Target="https://doi.org/10.1007/978-3-319-18305-3_1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86/s42400-019-0038-7" TargetMode="External"/><Relationship Id="rId5" Type="http://schemas.openxmlformats.org/officeDocument/2006/relationships/hyperlink" Target="https://doi.org/10.1007/s13042-022-01647-y" TargetMode="External"/><Relationship Id="rId4" Type="http://schemas.openxmlformats.org/officeDocument/2006/relationships/hyperlink" Target="https://doi.org/10.1007/978-3-030-32236-6_51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565002" y="6454831"/>
            <a:ext cx="4550946" cy="1283135"/>
            <a:chOff x="0" y="-62629"/>
            <a:chExt cx="1146356" cy="3232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2629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PRESENTED BY: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47943" y="7489334"/>
            <a:ext cx="4568005" cy="1819265"/>
            <a:chOff x="-4297" y="-47625"/>
            <a:chExt cx="1150653" cy="3232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F756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4297" y="-47625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Theresa Maria Ghantous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565002" y="1834399"/>
            <a:ext cx="8694298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ARTIFICIAL INTELLIGENCE &amp; Cybersecurity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65002" y="5380834"/>
            <a:ext cx="8694298" cy="85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999" b="1" dirty="0">
                <a:solidFill>
                  <a:srgbClr val="211C2D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PRESENTATION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8B5BEE-27A5-C328-647B-84FBBD3ED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057400" y="2424533"/>
            <a:ext cx="4210050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24378" y="2796158"/>
            <a:ext cx="3984347" cy="2593758"/>
            <a:chOff x="0" y="0"/>
            <a:chExt cx="1737573" cy="11311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424378" y="6080544"/>
            <a:ext cx="3984347" cy="2593758"/>
            <a:chOff x="0" y="0"/>
            <a:chExt cx="1737573" cy="11311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51827" y="2814416"/>
            <a:ext cx="3984347" cy="2593758"/>
            <a:chOff x="0" y="0"/>
            <a:chExt cx="1737573" cy="11311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63804" y="6172164"/>
            <a:ext cx="3984347" cy="2593758"/>
            <a:chOff x="0" y="0"/>
            <a:chExt cx="1737573" cy="11311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79275" y="2814416"/>
            <a:ext cx="3984347" cy="2593758"/>
            <a:chOff x="0" y="0"/>
            <a:chExt cx="1737573" cy="11311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879275" y="6080544"/>
            <a:ext cx="3984347" cy="2593758"/>
            <a:chOff x="0" y="0"/>
            <a:chExt cx="1737573" cy="11311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674550" y="2344966"/>
            <a:ext cx="938900" cy="93890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74550" y="5611094"/>
            <a:ext cx="938900" cy="93890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947101" y="2344966"/>
            <a:ext cx="938900" cy="93890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947101" y="5611094"/>
            <a:ext cx="938900" cy="938900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401998" y="2344966"/>
            <a:ext cx="938900" cy="938900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401998" y="5611094"/>
            <a:ext cx="938900" cy="938900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28700" y="1019175"/>
            <a:ext cx="811530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AI fields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335989" y="4010889"/>
            <a:ext cx="4161123" cy="391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Machine learning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647868" y="7227426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Trustworthy AI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375318" y="3869740"/>
            <a:ext cx="3537364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Reinforcement Learning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5318" y="7232999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Explainable AI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170901" y="3821734"/>
            <a:ext cx="3537364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Large Language Models</a:t>
            </a:r>
          </a:p>
        </p:txBody>
      </p:sp>
      <p:sp>
        <p:nvSpPr>
          <p:cNvPr id="40" name="TextBox 48">
            <a:extLst>
              <a:ext uri="{FF2B5EF4-FFF2-40B4-BE49-F238E27FC236}">
                <a16:creationId xmlns:a16="http://schemas.microsoft.com/office/drawing/2014/main" id="{E443DA65-87D9-DBD5-E956-CDDD1FAA224E}"/>
              </a:ext>
            </a:extLst>
          </p:cNvPr>
          <p:cNvSpPr txBox="1"/>
          <p:nvPr/>
        </p:nvSpPr>
        <p:spPr>
          <a:xfrm>
            <a:off x="12170901" y="7257590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Federated Learning</a:t>
            </a:r>
          </a:p>
        </p:txBody>
      </p:sp>
      <p:sp>
        <p:nvSpPr>
          <p:cNvPr id="42" name="TextBox 48">
            <a:extLst>
              <a:ext uri="{FF2B5EF4-FFF2-40B4-BE49-F238E27FC236}">
                <a16:creationId xmlns:a16="http://schemas.microsoft.com/office/drawing/2014/main" id="{1993DA9F-6B55-2D3D-9A24-6CDC2CE8BED2}"/>
              </a:ext>
            </a:extLst>
          </p:cNvPr>
          <p:cNvSpPr txBox="1"/>
          <p:nvPr/>
        </p:nvSpPr>
        <p:spPr>
          <a:xfrm>
            <a:off x="3839563" y="2643880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</a:t>
            </a:r>
          </a:p>
        </p:txBody>
      </p:sp>
      <p:sp>
        <p:nvSpPr>
          <p:cNvPr id="44" name="TextBox 48">
            <a:extLst>
              <a:ext uri="{FF2B5EF4-FFF2-40B4-BE49-F238E27FC236}">
                <a16:creationId xmlns:a16="http://schemas.microsoft.com/office/drawing/2014/main" id="{DAD03874-4E5E-91B8-E3DC-ADE82EAAF688}"/>
              </a:ext>
            </a:extLst>
          </p:cNvPr>
          <p:cNvSpPr txBox="1"/>
          <p:nvPr/>
        </p:nvSpPr>
        <p:spPr>
          <a:xfrm>
            <a:off x="8586527" y="2646646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2</a:t>
            </a:r>
          </a:p>
        </p:txBody>
      </p:sp>
      <p:sp>
        <p:nvSpPr>
          <p:cNvPr id="51" name="TextBox 48">
            <a:extLst>
              <a:ext uri="{FF2B5EF4-FFF2-40B4-BE49-F238E27FC236}">
                <a16:creationId xmlns:a16="http://schemas.microsoft.com/office/drawing/2014/main" id="{729F15ED-1486-2D5E-B1F4-7BA51BB5AB31}"/>
              </a:ext>
            </a:extLst>
          </p:cNvPr>
          <p:cNvSpPr txBox="1"/>
          <p:nvPr/>
        </p:nvSpPr>
        <p:spPr>
          <a:xfrm>
            <a:off x="13313976" y="2662774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3</a:t>
            </a:r>
          </a:p>
        </p:txBody>
      </p:sp>
      <p:sp>
        <p:nvSpPr>
          <p:cNvPr id="52" name="TextBox 48">
            <a:extLst>
              <a:ext uri="{FF2B5EF4-FFF2-40B4-BE49-F238E27FC236}">
                <a16:creationId xmlns:a16="http://schemas.microsoft.com/office/drawing/2014/main" id="{A4FA94CE-54E0-97C7-BE1F-603E0D5F2095}"/>
              </a:ext>
            </a:extLst>
          </p:cNvPr>
          <p:cNvSpPr txBox="1"/>
          <p:nvPr/>
        </p:nvSpPr>
        <p:spPr>
          <a:xfrm>
            <a:off x="3839563" y="5912284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4</a:t>
            </a:r>
          </a:p>
        </p:txBody>
      </p:sp>
      <p:sp>
        <p:nvSpPr>
          <p:cNvPr id="53" name="TextBox 48">
            <a:extLst>
              <a:ext uri="{FF2B5EF4-FFF2-40B4-BE49-F238E27FC236}">
                <a16:creationId xmlns:a16="http://schemas.microsoft.com/office/drawing/2014/main" id="{33272449-7D5F-A6D0-877D-45B5AD1031DB}"/>
              </a:ext>
            </a:extLst>
          </p:cNvPr>
          <p:cNvSpPr txBox="1"/>
          <p:nvPr/>
        </p:nvSpPr>
        <p:spPr>
          <a:xfrm>
            <a:off x="8567013" y="5912283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5</a:t>
            </a:r>
          </a:p>
        </p:txBody>
      </p:sp>
      <p:sp>
        <p:nvSpPr>
          <p:cNvPr id="54" name="TextBox 48">
            <a:extLst>
              <a:ext uri="{FF2B5EF4-FFF2-40B4-BE49-F238E27FC236}">
                <a16:creationId xmlns:a16="http://schemas.microsoft.com/office/drawing/2014/main" id="{76CA41E6-D050-5A3E-A312-467F2BD2C971}"/>
              </a:ext>
            </a:extLst>
          </p:cNvPr>
          <p:cNvSpPr txBox="1"/>
          <p:nvPr/>
        </p:nvSpPr>
        <p:spPr>
          <a:xfrm>
            <a:off x="13308111" y="5928902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95400" y="485910"/>
            <a:ext cx="96774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1-Machine learning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8600" y="2568518"/>
            <a:ext cx="178308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Machine learning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is a branch of computational algorithms which learn patterns without being explicitly programmed.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Examples: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Google maps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Instagram and TikTok recommendations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677F9981-571D-B162-CF17-CC2C28780AE3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91A79FD-B644-32CA-0DD8-197CCF54B91C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7B6A164-4721-2459-950E-0907E4DDFE4B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126D4-70B3-CAE8-49D7-3FEC65CC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DBD5524-9A1A-1DEB-304D-97B5CE3414F8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2-Reinforcemnet learning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02D4793-C402-7D48-2AEB-311697C3C5D1}"/>
              </a:ext>
            </a:extLst>
          </p:cNvPr>
          <p:cNvSpPr txBox="1"/>
          <p:nvPr/>
        </p:nvSpPr>
        <p:spPr>
          <a:xfrm>
            <a:off x="403746" y="2400300"/>
            <a:ext cx="166878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RL: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system learns by interacting with the environment and receiving rewards.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Examples: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AI opponent in a Chess game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AI opponent in the Connect-four game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834FA63B-508E-35E6-7F76-5CF959022D35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E3B1FD40-8123-EE4B-77D7-9A2557C60723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65AB207-F36D-61E4-693D-9B45CF70D985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142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7D5681-13A6-323B-4D22-39D37D47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20E856F-78CD-AAB8-49BC-FD641D0C438E}"/>
              </a:ext>
            </a:extLst>
          </p:cNvPr>
          <p:cNvSpPr txBox="1"/>
          <p:nvPr/>
        </p:nvSpPr>
        <p:spPr>
          <a:xfrm>
            <a:off x="1295400" y="491028"/>
            <a:ext cx="96774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3-large language models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E8B0A68-4F7D-9579-9013-027C2330CAA3}"/>
              </a:ext>
            </a:extLst>
          </p:cNvPr>
          <p:cNvSpPr txBox="1"/>
          <p:nvPr/>
        </p:nvSpPr>
        <p:spPr>
          <a:xfrm>
            <a:off x="381000" y="2324100"/>
            <a:ext cx="178308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LLM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are models trained on large datasets to understand and generate responses.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Examples: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ChatGPT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Claude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97DDFB67-7598-4DD6-F064-DA08D2883054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E33674B7-CA6A-EE1E-912C-7E0BAF80CE75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AB87F774-AE59-1765-65C8-F3819F7875E3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084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CFD22-6377-E7B7-6996-715B0207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8175849-9661-E716-BD18-4DA792D4C5D2}"/>
              </a:ext>
            </a:extLst>
          </p:cNvPr>
          <p:cNvSpPr txBox="1"/>
          <p:nvPr/>
        </p:nvSpPr>
        <p:spPr>
          <a:xfrm>
            <a:off x="1295400" y="491028"/>
            <a:ext cx="96774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4- Trustworthy AI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AE3A76A-83C3-7FEE-4150-ECAA9E9A102B}"/>
              </a:ext>
            </a:extLst>
          </p:cNvPr>
          <p:cNvSpPr txBox="1"/>
          <p:nvPr/>
        </p:nvSpPr>
        <p:spPr>
          <a:xfrm>
            <a:off x="575990" y="2324100"/>
            <a:ext cx="17285792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Trustworthy AI: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 approach to development that ensures AI is used ethically and safely.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Trustworthy AI is: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Lawful: complies with all laws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ethical: complies with ethical principles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robust: technically and socially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BD0DA107-394F-9F75-9861-08FC508C5310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6C2553C5-B46E-CCC1-500A-84329693E677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80DDC364-4F8E-09FD-8206-51B403459927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6064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1CC34-29F9-D592-AF2F-61E21280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7B9B06B-B700-E266-E3E4-12E244E6AD5D}"/>
              </a:ext>
            </a:extLst>
          </p:cNvPr>
          <p:cNvSpPr txBox="1"/>
          <p:nvPr/>
        </p:nvSpPr>
        <p:spPr>
          <a:xfrm>
            <a:off x="1295400" y="491028"/>
            <a:ext cx="96774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5- Explainable AI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F00A2A3-C31D-4F60-A857-765D8CEE91AA}"/>
              </a:ext>
            </a:extLst>
          </p:cNvPr>
          <p:cNvSpPr txBox="1"/>
          <p:nvPr/>
        </p:nvSpPr>
        <p:spPr>
          <a:xfrm>
            <a:off x="556659" y="2989064"/>
            <a:ext cx="17090802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Explainable AI: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methods that make AI decisions understandable to humans.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Example: 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 doctor must understand how the algorithm is guided before accepting auto-generated diagnosis.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5CEA69DF-16DB-C662-033A-F5DC4D60D6DE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6CC3B576-21B1-5A4C-9DFD-47BEAA1E9B55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DC8EEB7-AF8A-881D-CD12-8CC7E714B48A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6116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A136D-E375-4CF2-687F-944E1DB31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C0CEE95-A6B0-A631-D1BB-308FC7620113}"/>
              </a:ext>
            </a:extLst>
          </p:cNvPr>
          <p:cNvSpPr txBox="1"/>
          <p:nvPr/>
        </p:nvSpPr>
        <p:spPr>
          <a:xfrm>
            <a:off x="1295400" y="491028"/>
            <a:ext cx="96774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6- Federated Learning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77D7F19-599A-16D5-937A-F38E53409FC5}"/>
              </a:ext>
            </a:extLst>
          </p:cNvPr>
          <p:cNvSpPr txBox="1"/>
          <p:nvPr/>
        </p:nvSpPr>
        <p:spPr>
          <a:xfrm>
            <a:off x="384412" y="2324100"/>
            <a:ext cx="17428504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Federated Learning: </a:t>
            </a:r>
          </a:p>
          <a:p>
            <a:pPr marL="914400" lvl="1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 approach to train AI models by multiple servers without sharing raw data. </a:t>
            </a:r>
          </a:p>
          <a:p>
            <a:pPr marL="914400" lvl="1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It was introduced by Google in 2016.</a:t>
            </a:r>
          </a:p>
          <a:p>
            <a:pPr marL="914400" lvl="1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Only model updates are shared.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Example:</a:t>
            </a:r>
          </a:p>
          <a:p>
            <a:pPr>
              <a:lnSpc>
                <a:spcPts val="4200"/>
              </a:lnSpc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- text predictions on phones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DDFDDBC-05F1-5A9B-AB8C-8EEAEF6854AF}"/>
              </a:ext>
            </a:extLst>
          </p:cNvPr>
          <p:cNvGrpSpPr/>
          <p:nvPr/>
        </p:nvGrpSpPr>
        <p:grpSpPr>
          <a:xfrm>
            <a:off x="381000" y="8479810"/>
            <a:ext cx="17285792" cy="1738773"/>
            <a:chOff x="0" y="-4343"/>
            <a:chExt cx="2472424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27BE453-E916-3985-CEF5-8DA561E395B3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8429431C-4E74-FD70-1466-C8C73AB1427B}"/>
                </a:ext>
              </a:extLst>
            </p:cNvPr>
            <p:cNvSpPr txBox="1"/>
            <p:nvPr/>
          </p:nvSpPr>
          <p:spPr>
            <a:xfrm>
              <a:off x="0" y="-4343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122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09DC7-3B90-B460-852A-FD0CE7FFC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BDA961E-5AA0-F668-64BA-E9A8E04E2231}"/>
              </a:ext>
            </a:extLst>
          </p:cNvPr>
          <p:cNvGrpSpPr/>
          <p:nvPr/>
        </p:nvGrpSpPr>
        <p:grpSpPr>
          <a:xfrm>
            <a:off x="2424378" y="2796158"/>
            <a:ext cx="3984347" cy="2593758"/>
            <a:chOff x="0" y="0"/>
            <a:chExt cx="1737573" cy="113113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AFE5F15-C0B5-0F60-58DA-E9EFD309659E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E0A49F1-1227-635E-D57F-3F20DB02E1D8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22C8A4A-6A0E-2F01-B068-B83EF127624B}"/>
              </a:ext>
            </a:extLst>
          </p:cNvPr>
          <p:cNvGrpSpPr/>
          <p:nvPr/>
        </p:nvGrpSpPr>
        <p:grpSpPr>
          <a:xfrm>
            <a:off x="2424378" y="6080544"/>
            <a:ext cx="3984347" cy="2593758"/>
            <a:chOff x="0" y="0"/>
            <a:chExt cx="1737573" cy="11311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0565EE3-2ACA-06A6-9659-4E8EF78745C2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41B9E0-B992-CC95-CDAB-F411C0CA53FC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1F417FD-3C72-42A5-3B8F-5547C97DDF29}"/>
              </a:ext>
            </a:extLst>
          </p:cNvPr>
          <p:cNvGrpSpPr/>
          <p:nvPr/>
        </p:nvGrpSpPr>
        <p:grpSpPr>
          <a:xfrm>
            <a:off x="7151827" y="2814416"/>
            <a:ext cx="3984347" cy="2593758"/>
            <a:chOff x="0" y="0"/>
            <a:chExt cx="1737573" cy="113113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62BDF34-A4FD-F762-41F1-B134F9C3F94B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DA035B4-E15D-BCDB-D946-C23451728A0B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25D99D4-89EF-D292-E5AC-2BB658BBFB50}"/>
              </a:ext>
            </a:extLst>
          </p:cNvPr>
          <p:cNvGrpSpPr/>
          <p:nvPr/>
        </p:nvGrpSpPr>
        <p:grpSpPr>
          <a:xfrm>
            <a:off x="7063804" y="6172164"/>
            <a:ext cx="3984347" cy="2593758"/>
            <a:chOff x="0" y="0"/>
            <a:chExt cx="1737573" cy="113113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57C88D1-CADC-C6C4-B74A-3AFFA0C1D001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05280B2-1200-678F-E4CB-00EF1E49C290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ECD1109-944C-F797-9DF3-B0FCD7A141CF}"/>
              </a:ext>
            </a:extLst>
          </p:cNvPr>
          <p:cNvGrpSpPr/>
          <p:nvPr/>
        </p:nvGrpSpPr>
        <p:grpSpPr>
          <a:xfrm>
            <a:off x="11879275" y="2814416"/>
            <a:ext cx="3984347" cy="2593758"/>
            <a:chOff x="0" y="0"/>
            <a:chExt cx="1737573" cy="1131138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AD54956-9589-05E5-8FA0-1D27A3652301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4C7C5DF5-7F04-720A-5CF6-5277D56893B0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AE9A88-BDCA-2E27-3FED-8342DC00CA22}"/>
              </a:ext>
            </a:extLst>
          </p:cNvPr>
          <p:cNvGrpSpPr/>
          <p:nvPr/>
        </p:nvGrpSpPr>
        <p:grpSpPr>
          <a:xfrm>
            <a:off x="11879275" y="6080544"/>
            <a:ext cx="3984347" cy="2593758"/>
            <a:chOff x="0" y="0"/>
            <a:chExt cx="1737573" cy="113113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7FD4CEF-5685-C258-E0AF-EED0CE23A2DA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B9E8B99-A735-88D8-B17F-7A5F041945D2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29BC688-AF31-4513-924C-AD7CEB7CDD4B}"/>
              </a:ext>
            </a:extLst>
          </p:cNvPr>
          <p:cNvGrpSpPr/>
          <p:nvPr/>
        </p:nvGrpSpPr>
        <p:grpSpPr>
          <a:xfrm>
            <a:off x="8674550" y="2344966"/>
            <a:ext cx="938900" cy="938900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EF1DBCF-BAEC-5435-604D-D1F0F7D7183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668C6CC-2166-3924-6994-4D3E7ACE6C6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CC48A054-ABB8-01FE-246F-E358AB419F51}"/>
              </a:ext>
            </a:extLst>
          </p:cNvPr>
          <p:cNvGrpSpPr/>
          <p:nvPr/>
        </p:nvGrpSpPr>
        <p:grpSpPr>
          <a:xfrm>
            <a:off x="8674550" y="5611094"/>
            <a:ext cx="938900" cy="938900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3ADF73C-8EA9-3A0B-0425-423740A2D6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6893223-90C0-48CA-7379-24B5E5C6782B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5B21F201-16AA-6D3D-3A6B-AA9B2DA664F4}"/>
              </a:ext>
            </a:extLst>
          </p:cNvPr>
          <p:cNvGrpSpPr/>
          <p:nvPr/>
        </p:nvGrpSpPr>
        <p:grpSpPr>
          <a:xfrm>
            <a:off x="3947101" y="2344966"/>
            <a:ext cx="938900" cy="938900"/>
            <a:chOff x="0" y="0"/>
            <a:chExt cx="812800" cy="812800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E734A11-2178-8A64-5561-4FDB3A75A62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A223369-C66F-BF27-962E-4BD81B89CB1F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1A7C15E1-06EB-BBA5-2B73-6641A93807DA}"/>
              </a:ext>
            </a:extLst>
          </p:cNvPr>
          <p:cNvGrpSpPr/>
          <p:nvPr/>
        </p:nvGrpSpPr>
        <p:grpSpPr>
          <a:xfrm>
            <a:off x="3947101" y="5611094"/>
            <a:ext cx="938900" cy="938900"/>
            <a:chOff x="0" y="0"/>
            <a:chExt cx="812800" cy="812800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11F5406-7F05-0FEE-0FAA-C80D6BE653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80AA882E-14A1-4CE1-FA1F-645934BF181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1AD35279-3049-2196-3345-71956BEA10F6}"/>
              </a:ext>
            </a:extLst>
          </p:cNvPr>
          <p:cNvGrpSpPr/>
          <p:nvPr/>
        </p:nvGrpSpPr>
        <p:grpSpPr>
          <a:xfrm>
            <a:off x="13401998" y="2344966"/>
            <a:ext cx="938900" cy="938900"/>
            <a:chOff x="0" y="0"/>
            <a:chExt cx="812800" cy="812800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13D601A2-A1AC-3C35-BBBA-F95C07D585E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E39D8375-A586-C593-9FAC-CFA6CDB5FD0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0D1165AA-AF77-6519-E5A0-42A09753B108}"/>
              </a:ext>
            </a:extLst>
          </p:cNvPr>
          <p:cNvGrpSpPr/>
          <p:nvPr/>
        </p:nvGrpSpPr>
        <p:grpSpPr>
          <a:xfrm>
            <a:off x="13401998" y="5611094"/>
            <a:ext cx="938900" cy="938900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2695EFA-474C-B5C1-E583-72402757A9A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A7BBFE9-15EA-782F-1507-777990DC6BFA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71FA21EA-57C1-FC89-2695-D0695DF0EDA5}"/>
              </a:ext>
            </a:extLst>
          </p:cNvPr>
          <p:cNvSpPr txBox="1"/>
          <p:nvPr/>
        </p:nvSpPr>
        <p:spPr>
          <a:xfrm>
            <a:off x="1028700" y="1019175"/>
            <a:ext cx="811530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cybersecurity fields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C0A0F158-14E9-7D6C-080B-93E02E49DFA4}"/>
              </a:ext>
            </a:extLst>
          </p:cNvPr>
          <p:cNvSpPr txBox="1"/>
          <p:nvPr/>
        </p:nvSpPr>
        <p:spPr>
          <a:xfrm>
            <a:off x="2335989" y="4010889"/>
            <a:ext cx="4161123" cy="391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Internet of Things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0AFBB537-2C7C-B05F-D9B5-A7A2BB4DD550}"/>
              </a:ext>
            </a:extLst>
          </p:cNvPr>
          <p:cNvSpPr txBox="1"/>
          <p:nvPr/>
        </p:nvSpPr>
        <p:spPr>
          <a:xfrm>
            <a:off x="2647868" y="7227426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Network security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46C95121-9764-D321-AB13-6BA71F52A6E5}"/>
              </a:ext>
            </a:extLst>
          </p:cNvPr>
          <p:cNvSpPr txBox="1"/>
          <p:nvPr/>
        </p:nvSpPr>
        <p:spPr>
          <a:xfrm>
            <a:off x="7375318" y="3869740"/>
            <a:ext cx="3537364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Intrusion detection systems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83DDF6EF-7D54-0B5B-6A3C-FCCEF4B7D3FB}"/>
              </a:ext>
            </a:extLst>
          </p:cNvPr>
          <p:cNvSpPr txBox="1"/>
          <p:nvPr/>
        </p:nvSpPr>
        <p:spPr>
          <a:xfrm>
            <a:off x="7375318" y="7232999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Wireless security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05A84780-88BA-1D5E-43CA-0C2E6DF8A194}"/>
              </a:ext>
            </a:extLst>
          </p:cNvPr>
          <p:cNvSpPr txBox="1"/>
          <p:nvPr/>
        </p:nvSpPr>
        <p:spPr>
          <a:xfrm>
            <a:off x="12170901" y="3821734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Malware analysis</a:t>
            </a:r>
          </a:p>
        </p:txBody>
      </p:sp>
      <p:sp>
        <p:nvSpPr>
          <p:cNvPr id="40" name="TextBox 48">
            <a:extLst>
              <a:ext uri="{FF2B5EF4-FFF2-40B4-BE49-F238E27FC236}">
                <a16:creationId xmlns:a16="http://schemas.microsoft.com/office/drawing/2014/main" id="{79392061-7B0E-B788-D3CC-B5CB192C26A2}"/>
              </a:ext>
            </a:extLst>
          </p:cNvPr>
          <p:cNvSpPr txBox="1"/>
          <p:nvPr/>
        </p:nvSpPr>
        <p:spPr>
          <a:xfrm>
            <a:off x="12170901" y="7257590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Automation security</a:t>
            </a:r>
          </a:p>
        </p:txBody>
      </p:sp>
      <p:sp>
        <p:nvSpPr>
          <p:cNvPr id="42" name="TextBox 48">
            <a:extLst>
              <a:ext uri="{FF2B5EF4-FFF2-40B4-BE49-F238E27FC236}">
                <a16:creationId xmlns:a16="http://schemas.microsoft.com/office/drawing/2014/main" id="{3BD4E6CC-EA94-E341-188B-91DA246CDAEC}"/>
              </a:ext>
            </a:extLst>
          </p:cNvPr>
          <p:cNvSpPr txBox="1"/>
          <p:nvPr/>
        </p:nvSpPr>
        <p:spPr>
          <a:xfrm>
            <a:off x="3839563" y="2643880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</a:t>
            </a:r>
          </a:p>
        </p:txBody>
      </p:sp>
      <p:sp>
        <p:nvSpPr>
          <p:cNvPr id="44" name="TextBox 48">
            <a:extLst>
              <a:ext uri="{FF2B5EF4-FFF2-40B4-BE49-F238E27FC236}">
                <a16:creationId xmlns:a16="http://schemas.microsoft.com/office/drawing/2014/main" id="{6F1B9825-7EA6-F13D-DCB4-0D43C132DCD3}"/>
              </a:ext>
            </a:extLst>
          </p:cNvPr>
          <p:cNvSpPr txBox="1"/>
          <p:nvPr/>
        </p:nvSpPr>
        <p:spPr>
          <a:xfrm>
            <a:off x="8586527" y="2646646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2</a:t>
            </a:r>
          </a:p>
        </p:txBody>
      </p:sp>
      <p:sp>
        <p:nvSpPr>
          <p:cNvPr id="51" name="TextBox 48">
            <a:extLst>
              <a:ext uri="{FF2B5EF4-FFF2-40B4-BE49-F238E27FC236}">
                <a16:creationId xmlns:a16="http://schemas.microsoft.com/office/drawing/2014/main" id="{C18600A9-52EA-C148-6B03-573134FB7454}"/>
              </a:ext>
            </a:extLst>
          </p:cNvPr>
          <p:cNvSpPr txBox="1"/>
          <p:nvPr/>
        </p:nvSpPr>
        <p:spPr>
          <a:xfrm>
            <a:off x="13313976" y="2662774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3</a:t>
            </a:r>
          </a:p>
        </p:txBody>
      </p:sp>
      <p:sp>
        <p:nvSpPr>
          <p:cNvPr id="52" name="TextBox 48">
            <a:extLst>
              <a:ext uri="{FF2B5EF4-FFF2-40B4-BE49-F238E27FC236}">
                <a16:creationId xmlns:a16="http://schemas.microsoft.com/office/drawing/2014/main" id="{36F4F06A-27E8-B8D2-4E6C-04B1EDD0480B}"/>
              </a:ext>
            </a:extLst>
          </p:cNvPr>
          <p:cNvSpPr txBox="1"/>
          <p:nvPr/>
        </p:nvSpPr>
        <p:spPr>
          <a:xfrm>
            <a:off x="3839563" y="5912284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4</a:t>
            </a:r>
          </a:p>
        </p:txBody>
      </p:sp>
      <p:sp>
        <p:nvSpPr>
          <p:cNvPr id="53" name="TextBox 48">
            <a:extLst>
              <a:ext uri="{FF2B5EF4-FFF2-40B4-BE49-F238E27FC236}">
                <a16:creationId xmlns:a16="http://schemas.microsoft.com/office/drawing/2014/main" id="{19458843-46A5-3C3D-8170-190CC7143FC8}"/>
              </a:ext>
            </a:extLst>
          </p:cNvPr>
          <p:cNvSpPr txBox="1"/>
          <p:nvPr/>
        </p:nvSpPr>
        <p:spPr>
          <a:xfrm>
            <a:off x="8567013" y="5912283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5</a:t>
            </a:r>
          </a:p>
        </p:txBody>
      </p:sp>
      <p:sp>
        <p:nvSpPr>
          <p:cNvPr id="54" name="TextBox 48">
            <a:extLst>
              <a:ext uri="{FF2B5EF4-FFF2-40B4-BE49-F238E27FC236}">
                <a16:creationId xmlns:a16="http://schemas.microsoft.com/office/drawing/2014/main" id="{43D8CE41-AD9A-5CBF-90AC-CA5B2C9FCACC}"/>
              </a:ext>
            </a:extLst>
          </p:cNvPr>
          <p:cNvSpPr txBox="1"/>
          <p:nvPr/>
        </p:nvSpPr>
        <p:spPr>
          <a:xfrm>
            <a:off x="13308111" y="5928902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11894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AF8CA9-678B-6D79-AC92-0A7EC5A2A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3B1712-480C-9AA6-3B14-D37FC22F943E}"/>
              </a:ext>
            </a:extLst>
          </p:cNvPr>
          <p:cNvGrpSpPr/>
          <p:nvPr/>
        </p:nvGrpSpPr>
        <p:grpSpPr>
          <a:xfrm>
            <a:off x="2424378" y="2796158"/>
            <a:ext cx="3984347" cy="2593758"/>
            <a:chOff x="0" y="0"/>
            <a:chExt cx="1737573" cy="113113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B977E46-48C8-EE30-6B4C-DC9ADF045623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A8DEDC3-4E3E-6EBC-7CDE-CEACB0707F8A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85D49D0-C05F-83CB-25AD-29E888CBBECB}"/>
              </a:ext>
            </a:extLst>
          </p:cNvPr>
          <p:cNvGrpSpPr/>
          <p:nvPr/>
        </p:nvGrpSpPr>
        <p:grpSpPr>
          <a:xfrm>
            <a:off x="2429905" y="6395062"/>
            <a:ext cx="3984347" cy="2593758"/>
            <a:chOff x="0" y="0"/>
            <a:chExt cx="1737573" cy="113113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8BD32BC-0862-6CC4-8BE7-2B4E94960F81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09130F5-3803-D1FF-3535-825BCE67BA99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E873F84-8779-81B0-0636-E82257668684}"/>
              </a:ext>
            </a:extLst>
          </p:cNvPr>
          <p:cNvGrpSpPr/>
          <p:nvPr/>
        </p:nvGrpSpPr>
        <p:grpSpPr>
          <a:xfrm>
            <a:off x="7151827" y="2814416"/>
            <a:ext cx="3984347" cy="2593758"/>
            <a:chOff x="0" y="0"/>
            <a:chExt cx="1737573" cy="113113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482AE05-9D4B-2E11-7709-FD0C67805488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78AF1DB-8153-57D5-EA0B-16861DFCF634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06D896C-CB97-F00E-A2CE-2A1B7C27D7EF}"/>
              </a:ext>
            </a:extLst>
          </p:cNvPr>
          <p:cNvGrpSpPr/>
          <p:nvPr/>
        </p:nvGrpSpPr>
        <p:grpSpPr>
          <a:xfrm>
            <a:off x="7157669" y="6417189"/>
            <a:ext cx="3984347" cy="2593758"/>
            <a:chOff x="0" y="0"/>
            <a:chExt cx="1737573" cy="113113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0011A2E-349B-19E0-AB5E-B3AD3E6A5CFF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64AB916-2EEF-9D4C-4B53-2A69320AA235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C690DD2-8256-8856-8BC0-42E686DA154E}"/>
              </a:ext>
            </a:extLst>
          </p:cNvPr>
          <p:cNvGrpSpPr/>
          <p:nvPr/>
        </p:nvGrpSpPr>
        <p:grpSpPr>
          <a:xfrm>
            <a:off x="11879275" y="2814416"/>
            <a:ext cx="3984347" cy="2593758"/>
            <a:chOff x="0" y="0"/>
            <a:chExt cx="1737573" cy="1131138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0CD7E24-2789-BB0C-277D-7393744AEDAF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A02942B-90C5-0221-97AC-FAD0F25ACD31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2CE091DD-B1D0-7967-6218-0CB707DFDB25}"/>
              </a:ext>
            </a:extLst>
          </p:cNvPr>
          <p:cNvGrpSpPr/>
          <p:nvPr/>
        </p:nvGrpSpPr>
        <p:grpSpPr>
          <a:xfrm>
            <a:off x="8674550" y="2344966"/>
            <a:ext cx="938900" cy="938900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FF06BAEC-7DF1-5B0C-E574-06EB3014E99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746578D-EF1D-D98F-9BCE-2DE0A14CC04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5552C46B-E573-B201-10FB-D4D088D86CF7}"/>
              </a:ext>
            </a:extLst>
          </p:cNvPr>
          <p:cNvGrpSpPr/>
          <p:nvPr/>
        </p:nvGrpSpPr>
        <p:grpSpPr>
          <a:xfrm>
            <a:off x="8691979" y="5986908"/>
            <a:ext cx="938900" cy="938900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BA19E5AA-6F39-ED29-39E5-1FA7B45BAE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D0B0C46C-D843-9A57-09D9-9E59E27AF10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F6BF2B92-13A7-254D-4770-9BF3402AB3E2}"/>
              </a:ext>
            </a:extLst>
          </p:cNvPr>
          <p:cNvGrpSpPr/>
          <p:nvPr/>
        </p:nvGrpSpPr>
        <p:grpSpPr>
          <a:xfrm>
            <a:off x="3947101" y="2344966"/>
            <a:ext cx="938900" cy="938900"/>
            <a:chOff x="0" y="0"/>
            <a:chExt cx="812800" cy="812800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8736EAB9-238D-2C68-A3E7-DCDD90B5049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73AC6638-DF26-702C-D5EB-91D747BCFA3C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FA67238A-F76F-B3AA-FB05-AA7081BAFC64}"/>
              </a:ext>
            </a:extLst>
          </p:cNvPr>
          <p:cNvGrpSpPr/>
          <p:nvPr/>
        </p:nvGrpSpPr>
        <p:grpSpPr>
          <a:xfrm>
            <a:off x="3930134" y="6018578"/>
            <a:ext cx="938900" cy="938900"/>
            <a:chOff x="0" y="0"/>
            <a:chExt cx="812800" cy="812800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89B37FAD-DF27-52A8-A8E7-96559DF72E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39B8CE8F-FCF0-0FE4-DA02-8F96E2BB75A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13683F1C-D396-A958-742B-3B4E1981A6E8}"/>
              </a:ext>
            </a:extLst>
          </p:cNvPr>
          <p:cNvGrpSpPr/>
          <p:nvPr/>
        </p:nvGrpSpPr>
        <p:grpSpPr>
          <a:xfrm>
            <a:off x="13401998" y="2344966"/>
            <a:ext cx="938900" cy="938900"/>
            <a:chOff x="0" y="0"/>
            <a:chExt cx="812800" cy="812800"/>
          </a:xfrm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902CDF85-6F53-227A-DEE9-46341D4147E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65447581-F55B-2B46-D437-9E51C8B90F4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38" name="TextBox 38">
            <a:extLst>
              <a:ext uri="{FF2B5EF4-FFF2-40B4-BE49-F238E27FC236}">
                <a16:creationId xmlns:a16="http://schemas.microsoft.com/office/drawing/2014/main" id="{635981B2-DBEA-5BF1-242E-5545B1976475}"/>
              </a:ext>
            </a:extLst>
          </p:cNvPr>
          <p:cNvSpPr txBox="1"/>
          <p:nvPr/>
        </p:nvSpPr>
        <p:spPr>
          <a:xfrm>
            <a:off x="1028700" y="1019175"/>
            <a:ext cx="811530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cybersecurity fields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8FD50EC2-8908-E8F5-F76D-E29BE81CB643}"/>
              </a:ext>
            </a:extLst>
          </p:cNvPr>
          <p:cNvSpPr txBox="1"/>
          <p:nvPr/>
        </p:nvSpPr>
        <p:spPr>
          <a:xfrm>
            <a:off x="2335988" y="3915728"/>
            <a:ext cx="4161123" cy="391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Offensive security</a:t>
            </a: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D42D6437-3E41-BB95-235A-A7E4962B6A78}"/>
              </a:ext>
            </a:extLst>
          </p:cNvPr>
          <p:cNvSpPr txBox="1"/>
          <p:nvPr/>
        </p:nvSpPr>
        <p:spPr>
          <a:xfrm>
            <a:off x="2647867" y="7460692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edge security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043CD9BF-A37C-2F49-29F3-E474B8FB4E79}"/>
              </a:ext>
            </a:extLst>
          </p:cNvPr>
          <p:cNvSpPr txBox="1"/>
          <p:nvPr/>
        </p:nvSpPr>
        <p:spPr>
          <a:xfrm>
            <a:off x="7375318" y="3869740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hacking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D6091671-4059-2FB5-44BF-1F27FBA08C53}"/>
              </a:ext>
            </a:extLst>
          </p:cNvPr>
          <p:cNvSpPr txBox="1"/>
          <p:nvPr/>
        </p:nvSpPr>
        <p:spPr>
          <a:xfrm>
            <a:off x="7449280" y="7450436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fog security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6157FA84-1C5E-843C-03B0-7F09715170F2}"/>
              </a:ext>
            </a:extLst>
          </p:cNvPr>
          <p:cNvSpPr txBox="1"/>
          <p:nvPr/>
        </p:nvSpPr>
        <p:spPr>
          <a:xfrm>
            <a:off x="12170901" y="3821734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Cloud security</a:t>
            </a:r>
          </a:p>
        </p:txBody>
      </p:sp>
      <p:sp>
        <p:nvSpPr>
          <p:cNvPr id="42" name="TextBox 48">
            <a:extLst>
              <a:ext uri="{FF2B5EF4-FFF2-40B4-BE49-F238E27FC236}">
                <a16:creationId xmlns:a16="http://schemas.microsoft.com/office/drawing/2014/main" id="{71ACA78E-7CFF-A27E-C7C1-B3A04D7BA214}"/>
              </a:ext>
            </a:extLst>
          </p:cNvPr>
          <p:cNvSpPr txBox="1"/>
          <p:nvPr/>
        </p:nvSpPr>
        <p:spPr>
          <a:xfrm>
            <a:off x="3839563" y="2643880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7</a:t>
            </a:r>
          </a:p>
        </p:txBody>
      </p:sp>
      <p:sp>
        <p:nvSpPr>
          <p:cNvPr id="44" name="TextBox 48">
            <a:extLst>
              <a:ext uri="{FF2B5EF4-FFF2-40B4-BE49-F238E27FC236}">
                <a16:creationId xmlns:a16="http://schemas.microsoft.com/office/drawing/2014/main" id="{BC3AE1AD-48EC-F36F-0FA3-A03403381680}"/>
              </a:ext>
            </a:extLst>
          </p:cNvPr>
          <p:cNvSpPr txBox="1"/>
          <p:nvPr/>
        </p:nvSpPr>
        <p:spPr>
          <a:xfrm>
            <a:off x="8586527" y="2646646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8</a:t>
            </a:r>
          </a:p>
        </p:txBody>
      </p:sp>
      <p:sp>
        <p:nvSpPr>
          <p:cNvPr id="51" name="TextBox 48">
            <a:extLst>
              <a:ext uri="{FF2B5EF4-FFF2-40B4-BE49-F238E27FC236}">
                <a16:creationId xmlns:a16="http://schemas.microsoft.com/office/drawing/2014/main" id="{2DE74E44-70D2-7E37-276B-98530A5ED285}"/>
              </a:ext>
            </a:extLst>
          </p:cNvPr>
          <p:cNvSpPr txBox="1"/>
          <p:nvPr/>
        </p:nvSpPr>
        <p:spPr>
          <a:xfrm>
            <a:off x="13313976" y="2662774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9</a:t>
            </a:r>
          </a:p>
        </p:txBody>
      </p:sp>
      <p:sp>
        <p:nvSpPr>
          <p:cNvPr id="52" name="TextBox 48">
            <a:extLst>
              <a:ext uri="{FF2B5EF4-FFF2-40B4-BE49-F238E27FC236}">
                <a16:creationId xmlns:a16="http://schemas.microsoft.com/office/drawing/2014/main" id="{92DC3772-8691-5569-C70E-C3808CF93137}"/>
              </a:ext>
            </a:extLst>
          </p:cNvPr>
          <p:cNvSpPr txBox="1"/>
          <p:nvPr/>
        </p:nvSpPr>
        <p:spPr>
          <a:xfrm>
            <a:off x="3839563" y="6336386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10</a:t>
            </a:r>
          </a:p>
        </p:txBody>
      </p:sp>
      <p:sp>
        <p:nvSpPr>
          <p:cNvPr id="53" name="TextBox 48">
            <a:extLst>
              <a:ext uri="{FF2B5EF4-FFF2-40B4-BE49-F238E27FC236}">
                <a16:creationId xmlns:a16="http://schemas.microsoft.com/office/drawing/2014/main" id="{79069CC1-A41B-ED47-D45B-73F53A50644A}"/>
              </a:ext>
            </a:extLst>
          </p:cNvPr>
          <p:cNvSpPr txBox="1"/>
          <p:nvPr/>
        </p:nvSpPr>
        <p:spPr>
          <a:xfrm>
            <a:off x="8589939" y="6295667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11</a:t>
            </a:r>
          </a:p>
        </p:txBody>
      </p:sp>
      <p:grpSp>
        <p:nvGrpSpPr>
          <p:cNvPr id="41" name="Group 14">
            <a:extLst>
              <a:ext uri="{FF2B5EF4-FFF2-40B4-BE49-F238E27FC236}">
                <a16:creationId xmlns:a16="http://schemas.microsoft.com/office/drawing/2014/main" id="{95962985-AB34-42EF-6E7C-6E1199AD2992}"/>
              </a:ext>
            </a:extLst>
          </p:cNvPr>
          <p:cNvGrpSpPr/>
          <p:nvPr/>
        </p:nvGrpSpPr>
        <p:grpSpPr>
          <a:xfrm>
            <a:off x="11879275" y="6373506"/>
            <a:ext cx="3984347" cy="2593758"/>
            <a:chOff x="0" y="0"/>
            <a:chExt cx="1737573" cy="1131138"/>
          </a:xfrm>
        </p:grpSpPr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201E35AD-83F6-8770-3A9C-5E93AC96B9C6}"/>
                </a:ext>
              </a:extLst>
            </p:cNvPr>
            <p:cNvSpPr/>
            <p:nvPr/>
          </p:nvSpPr>
          <p:spPr>
            <a:xfrm>
              <a:off x="0" y="0"/>
              <a:ext cx="1737573" cy="1131138"/>
            </a:xfrm>
            <a:custGeom>
              <a:avLst/>
              <a:gdLst/>
              <a:ahLst/>
              <a:cxnLst/>
              <a:rect l="l" t="t" r="r" b="b"/>
              <a:pathLst>
                <a:path w="1737573" h="1131138">
                  <a:moveTo>
                    <a:pt x="19431" y="0"/>
                  </a:moveTo>
                  <a:lnTo>
                    <a:pt x="1718142" y="0"/>
                  </a:lnTo>
                  <a:cubicBezTo>
                    <a:pt x="1723296" y="0"/>
                    <a:pt x="1728238" y="2047"/>
                    <a:pt x="1731882" y="5691"/>
                  </a:cubicBezTo>
                  <a:cubicBezTo>
                    <a:pt x="1735526" y="9335"/>
                    <a:pt x="1737573" y="14277"/>
                    <a:pt x="1737573" y="19431"/>
                  </a:cubicBezTo>
                  <a:lnTo>
                    <a:pt x="1737573" y="1111707"/>
                  </a:lnTo>
                  <a:cubicBezTo>
                    <a:pt x="1737573" y="1116860"/>
                    <a:pt x="1735526" y="1121802"/>
                    <a:pt x="1731882" y="1125446"/>
                  </a:cubicBezTo>
                  <a:cubicBezTo>
                    <a:pt x="1728238" y="1129090"/>
                    <a:pt x="1723296" y="1131138"/>
                    <a:pt x="1718142" y="1131138"/>
                  </a:cubicBezTo>
                  <a:lnTo>
                    <a:pt x="19431" y="1131138"/>
                  </a:lnTo>
                  <a:cubicBezTo>
                    <a:pt x="8699" y="1131138"/>
                    <a:pt x="0" y="1122438"/>
                    <a:pt x="0" y="1111707"/>
                  </a:cubicBezTo>
                  <a:lnTo>
                    <a:pt x="0" y="19431"/>
                  </a:lnTo>
                  <a:cubicBezTo>
                    <a:pt x="0" y="14277"/>
                    <a:pt x="2047" y="9335"/>
                    <a:pt x="5691" y="5691"/>
                  </a:cubicBezTo>
                  <a:cubicBezTo>
                    <a:pt x="9335" y="2047"/>
                    <a:pt x="14277" y="0"/>
                    <a:pt x="19431" y="0"/>
                  </a:cubicBezTo>
                  <a:close/>
                </a:path>
              </a:pathLst>
            </a:custGeom>
            <a:solidFill>
              <a:srgbClr val="02B676">
                <a:alpha val="6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16">
              <a:extLst>
                <a:ext uri="{FF2B5EF4-FFF2-40B4-BE49-F238E27FC236}">
                  <a16:creationId xmlns:a16="http://schemas.microsoft.com/office/drawing/2014/main" id="{39B663FA-BBFE-30CA-4F3A-D5768AA5C5D3}"/>
                </a:ext>
              </a:extLst>
            </p:cNvPr>
            <p:cNvSpPr txBox="1"/>
            <p:nvPr/>
          </p:nvSpPr>
          <p:spPr>
            <a:xfrm>
              <a:off x="0" y="-38100"/>
              <a:ext cx="1737573" cy="1169238"/>
            </a:xfrm>
            <a:prstGeom prst="rect">
              <a:avLst/>
            </a:prstGeom>
          </p:spPr>
          <p:txBody>
            <a:bodyPr lIns="80497" tIns="80497" rIns="80497" bIns="80497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50" name="Group 32">
            <a:extLst>
              <a:ext uri="{FF2B5EF4-FFF2-40B4-BE49-F238E27FC236}">
                <a16:creationId xmlns:a16="http://schemas.microsoft.com/office/drawing/2014/main" id="{5FBA063A-34B9-9075-4BE4-51FD3632EA3D}"/>
              </a:ext>
            </a:extLst>
          </p:cNvPr>
          <p:cNvGrpSpPr/>
          <p:nvPr/>
        </p:nvGrpSpPr>
        <p:grpSpPr>
          <a:xfrm>
            <a:off x="13401998" y="6018578"/>
            <a:ext cx="938900" cy="938900"/>
            <a:chOff x="0" y="0"/>
            <a:chExt cx="812800" cy="812800"/>
          </a:xfrm>
        </p:grpSpPr>
        <p:sp>
          <p:nvSpPr>
            <p:cNvPr id="55" name="Freeform 33">
              <a:extLst>
                <a:ext uri="{FF2B5EF4-FFF2-40B4-BE49-F238E27FC236}">
                  <a16:creationId xmlns:a16="http://schemas.microsoft.com/office/drawing/2014/main" id="{F991227A-CA60-BFE1-CB37-28CE7CAE36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EBE6"/>
            </a:solidFill>
            <a:ln w="38100" cap="sq">
              <a:solidFill>
                <a:srgbClr val="29282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34">
              <a:extLst>
                <a:ext uri="{FF2B5EF4-FFF2-40B4-BE49-F238E27FC236}">
                  <a16:creationId xmlns:a16="http://schemas.microsoft.com/office/drawing/2014/main" id="{3988C7C8-AE26-E63D-83ED-D852D838643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57" name="TextBox 48">
            <a:extLst>
              <a:ext uri="{FF2B5EF4-FFF2-40B4-BE49-F238E27FC236}">
                <a16:creationId xmlns:a16="http://schemas.microsoft.com/office/drawing/2014/main" id="{A79B8D5E-487B-A252-2DA5-A8DC86406D2F}"/>
              </a:ext>
            </a:extLst>
          </p:cNvPr>
          <p:cNvSpPr txBox="1"/>
          <p:nvPr/>
        </p:nvSpPr>
        <p:spPr>
          <a:xfrm>
            <a:off x="13294463" y="6336644"/>
            <a:ext cx="1153974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12</a:t>
            </a:r>
          </a:p>
        </p:txBody>
      </p:sp>
      <p:sp>
        <p:nvSpPr>
          <p:cNvPr id="58" name="TextBox 49">
            <a:extLst>
              <a:ext uri="{FF2B5EF4-FFF2-40B4-BE49-F238E27FC236}">
                <a16:creationId xmlns:a16="http://schemas.microsoft.com/office/drawing/2014/main" id="{4283FD6F-6E99-E633-49AD-4F7870296C72}"/>
              </a:ext>
            </a:extLst>
          </p:cNvPr>
          <p:cNvSpPr txBox="1"/>
          <p:nvPr/>
        </p:nvSpPr>
        <p:spPr>
          <a:xfrm>
            <a:off x="12122281" y="7450436"/>
            <a:ext cx="3537364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147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Poisoning attacks</a:t>
            </a:r>
          </a:p>
        </p:txBody>
      </p:sp>
    </p:spTree>
    <p:extLst>
      <p:ext uri="{BB962C8B-B14F-4D97-AF65-F5344CB8AC3E}">
        <p14:creationId xmlns:p14="http://schemas.microsoft.com/office/powerpoint/2010/main" val="152444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73753-181E-1BCB-1788-542F577B6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3AC4729-7714-7CE4-E700-1866263F458D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1- Internet of Things (IoT) 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648A126-8EBC-7B39-5FE4-EB09E10D76E2}"/>
              </a:ext>
            </a:extLst>
          </p:cNvPr>
          <p:cNvSpPr txBox="1"/>
          <p:nvPr/>
        </p:nvSpPr>
        <p:spPr>
          <a:xfrm>
            <a:off x="501104" y="2247900"/>
            <a:ext cx="17285792" cy="4847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IoT: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refers to physical devices connected to the internet that can collect, send, or receive data.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IoT security: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it protects smart devices.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Examples: </a:t>
            </a:r>
          </a:p>
          <a:p>
            <a:pPr>
              <a:lnSpc>
                <a:spcPts val="4200"/>
              </a:lnSpc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- smart cameras</a:t>
            </a:r>
          </a:p>
          <a:p>
            <a:pPr>
              <a:lnSpc>
                <a:spcPts val="4200"/>
              </a:lnSpc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smart TVs</a:t>
            </a:r>
          </a:p>
          <a:p>
            <a:pPr>
              <a:lnSpc>
                <a:spcPts val="4200"/>
              </a:lnSpc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smart watches</a:t>
            </a: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7686510F-98CF-D50E-0F81-FC789707BB77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70BFFF5-DFAD-34B8-C085-8420C4BA35DB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4B4C8E17-ECB0-DD6F-282D-D8D4CAC57857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6019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F0B41-8727-1A0C-E7C4-F99B7A58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91824F2-D6AB-C04E-F18A-000004BA4C17}"/>
              </a:ext>
            </a:extLst>
          </p:cNvPr>
          <p:cNvSpPr txBox="1"/>
          <p:nvPr/>
        </p:nvSpPr>
        <p:spPr>
          <a:xfrm>
            <a:off x="1295400" y="491028"/>
            <a:ext cx="123444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2-Intrusion Detection Systems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BAAD193-4785-0A3A-9AB9-5502584C5B33}"/>
              </a:ext>
            </a:extLst>
          </p:cNvPr>
          <p:cNvSpPr txBox="1"/>
          <p:nvPr/>
        </p:nvSpPr>
        <p:spPr>
          <a:xfrm>
            <a:off x="533400" y="2628900"/>
            <a:ext cx="17754600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Intrusion: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unauthorized activity inside a system.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spc="17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IDS: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 system that monitors network traffic and looks for signs of attacks. 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Types of IDS: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Signature-based IDS: looks for known attack patterns.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Anomaly-based IDS: looks for unusual behavior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B5BA958B-F316-B19F-5506-F5DE6E184B14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5C9FBE22-65E9-3858-0848-0CD9790AD804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70521FBC-2592-383D-4D39-5E4E7CF3B722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0984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9C887-0EAB-9421-6806-BFFE794B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D19FF71-355E-29CC-C6E0-507D06EDBCD0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3- malware analysis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426E8F3-4663-72A5-BEC2-442AFA76D836}"/>
              </a:ext>
            </a:extLst>
          </p:cNvPr>
          <p:cNvSpPr txBox="1"/>
          <p:nvPr/>
        </p:nvSpPr>
        <p:spPr>
          <a:xfrm>
            <a:off x="457200" y="2019300"/>
            <a:ext cx="17297400" cy="592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Malware: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malicious software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Malware analysis: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it studies malicious systems to understand: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 - what they do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 - how they spread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 - how dangerous they are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 - how to stop them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571500" indent="-5715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Types of malware analysis: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static analysis: study malware without running it.</a:t>
            </a:r>
            <a:endParaRPr lang="en-US" sz="3600" spc="17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dynamic analysis: run malware inside a safe virtual environment.</a:t>
            </a: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8080B6A-F8A9-1AEA-14D8-294AB95DEC92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D0414FF9-41CA-8E5E-880B-C5C53CFDFA47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378A1387-9D56-D81B-3BFE-04E497CCAE9F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3141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6B4CCD-A3A1-D12E-75E2-8FF483F13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4B33CA5-EA5C-7F2C-EF98-7B16EA9441C2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4- network security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ACCBEF7-17E9-7FC5-E410-510449D8359F}"/>
              </a:ext>
            </a:extLst>
          </p:cNvPr>
          <p:cNvSpPr txBox="1"/>
          <p:nvPr/>
        </p:nvSpPr>
        <p:spPr>
          <a:xfrm>
            <a:off x="152400" y="2476500"/>
            <a:ext cx="179070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Network security: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it protects computer networks from unauthorized access and attacks.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Example: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using passwords and encryption on a network so attackers cannot access transmitted data.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using firewalls.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78CA1052-D33D-9F24-BDE9-0B804AFE2E1B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A6A6F2D0-89F7-A8F7-83C6-135482E741E8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9170903-76EF-55E3-1C7E-F8F81FD36021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518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D64F6-AA25-6562-9B04-CB311E02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F6A2840-27D0-09F8-C960-BDA575D13800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5- Wireless security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FAC40FE-7773-0057-1E02-562ED08386D0}"/>
              </a:ext>
            </a:extLst>
          </p:cNvPr>
          <p:cNvSpPr txBox="1"/>
          <p:nvPr/>
        </p:nvSpPr>
        <p:spPr>
          <a:xfrm>
            <a:off x="228600" y="2857500"/>
            <a:ext cx="178308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Wireless security: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it protects Wi-Fi and wireless communication from attacks.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Example: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using WPA3 encryption to prevent attackers from stealing your internet connection.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EF2D4C9-7613-A999-BDD8-709CB1029EB6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73EFCD44-C961-57D2-3A13-357C1E9221E1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2D0BC2B0-3A39-70FC-ED54-9DEA679914F0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6382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1622EB-A521-EE8B-F70E-2B6602726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81CC5E6-CE78-3B59-14E7-73738EB0CC5E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6- Automation security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AF28564-A97D-D081-518B-181A707F886B}"/>
              </a:ext>
            </a:extLst>
          </p:cNvPr>
          <p:cNvSpPr txBox="1"/>
          <p:nvPr/>
        </p:nvSpPr>
        <p:spPr>
          <a:xfrm>
            <a:off x="152400" y="2476500"/>
            <a:ext cx="181356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Automation security: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it protects automated systems and smart technologies from cyber threats.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Example: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robots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industrial machines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77E8209F-9C4A-F651-05AC-B436E6FE01FE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265C01D6-5574-7C3F-7D05-8D37FD5DA6DA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D2E3FB4F-8C27-0B5A-0007-C2A19BD1B31C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8958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7ACD3-1B64-1613-1D22-5C6FB2ADE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CF995DD-9D46-C408-6EDA-8B85602A30D6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7- offensive security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C3F2E39-B6C7-6AD8-8E0C-3181F5DBC99D}"/>
              </a:ext>
            </a:extLst>
          </p:cNvPr>
          <p:cNvSpPr txBox="1"/>
          <p:nvPr/>
        </p:nvSpPr>
        <p:spPr>
          <a:xfrm>
            <a:off x="514066" y="2857500"/>
            <a:ext cx="177546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Offensive security: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also called ethical hacking. It aims to test systems and discover weaknesses ethically before real hackers do. 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Example: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perform a test in a bank system to discover bugs and help fix them. 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00E8B667-7220-02FF-A4CF-AAFA20C5C053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52E26E51-76A0-190B-4155-CB350934ACD5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93712C07-A773-F062-ED5B-B6FF3736E7DB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6621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1A3A5-0F5B-6AC2-D924-CBF0B3F97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0072C9A-9AD1-1779-9A03-BEDF11AD7E0F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8- hacking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756A53F-49C3-FAAB-FA33-BD43839FB762}"/>
              </a:ext>
            </a:extLst>
          </p:cNvPr>
          <p:cNvSpPr txBox="1"/>
          <p:nvPr/>
        </p:nvSpPr>
        <p:spPr>
          <a:xfrm>
            <a:off x="338923" y="2732979"/>
            <a:ext cx="181356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Hacking: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it means to gain access to systems or networks by exploiting their weaknesses.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Example: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a 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malicious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hacker steals passwords from a database.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  - an 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ethical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hacker tries to find weaknesses legally and reports them to the organization</a:t>
            </a:r>
            <a:endParaRPr lang="en-US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4D54D6E0-AAEE-D455-6388-9410B4F0AB21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12D90789-6447-4559-EE79-E222429F2CF3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0E90E105-8671-6E92-67BB-595E9D69CA34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3967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549C0-6AAD-5545-CD59-1554C2032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F3B4257-DD57-9D31-C8BD-FEDFE7DA7DDF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9- cloud security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06D1781-2D9C-4DAB-7A3F-8771B70281A7}"/>
              </a:ext>
            </a:extLst>
          </p:cNvPr>
          <p:cNvSpPr txBox="1"/>
          <p:nvPr/>
        </p:nvSpPr>
        <p:spPr>
          <a:xfrm>
            <a:off x="304800" y="3009900"/>
            <a:ext cx="179832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Cloud security: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it protects data stored online in cloud platforms.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Example: </a:t>
            </a:r>
          </a:p>
          <a:p>
            <a:pPr>
              <a:lnSpc>
                <a:spcPts val="4200"/>
              </a:lnSpc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- cloud security ensures the protection of student records stored in Google Cloud or Amazon web services.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44B6524D-BBE2-3C2B-6884-A6A279C23E7D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129FEC7-2C71-2253-6FA1-EA14264B4858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653C2DCD-5465-9D4D-C707-684C94B824E7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2220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70B2A-0596-EA5E-F9CB-A5138600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506FE34-ACB7-8F80-8F25-43B2E2375870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10- edge security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55E44EA-98EA-55B4-31BD-C484587B7868}"/>
              </a:ext>
            </a:extLst>
          </p:cNvPr>
          <p:cNvSpPr txBox="1"/>
          <p:nvPr/>
        </p:nvSpPr>
        <p:spPr>
          <a:xfrm>
            <a:off x="76200" y="2732410"/>
            <a:ext cx="181356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Edge security: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it protects devices at the edge of the network (like IoT devices) where data is processed locally.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Example:</a:t>
            </a:r>
          </a:p>
          <a:p>
            <a:pPr marL="914400" lvl="1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Smart homes</a:t>
            </a:r>
          </a:p>
          <a:p>
            <a:pPr marL="914400" lvl="1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Self-driving cars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41C46821-B36B-BAEB-9614-F1EECFE15FC4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9CFCA01A-F159-6F80-B112-607C724E28DF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A4C175EB-99D6-F55C-EC93-64E9D4CCD714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159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4DC0E-AF3A-418E-4779-E6702702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231B463-33F6-133B-81C0-18C3AC7E168B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11- fog security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031041A-87D0-DEF1-247B-7F986746C03C}"/>
              </a:ext>
            </a:extLst>
          </p:cNvPr>
          <p:cNvSpPr txBox="1"/>
          <p:nvPr/>
        </p:nvSpPr>
        <p:spPr>
          <a:xfrm>
            <a:off x="146596" y="2646255"/>
            <a:ext cx="177546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Fog computing: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Edge          Fog          Cloud 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Fog security: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it protects fog nodes, intermediate layers, and communications between edge and cloud from cyber threats.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ts val="4200"/>
              </a:lnSpc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               </a:t>
            </a:r>
          </a:p>
          <a:p>
            <a:pPr>
              <a:lnSpc>
                <a:spcPts val="4200"/>
              </a:lnSpc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40C2540D-5B3C-2604-74CC-A10B15578338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C4E8A2D6-B81D-7F63-154A-4216D2157C84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EEABC665-9156-83C2-3E11-30D9DA36235D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4AAFD44-4E33-B93C-24D5-60E6AF53992E}"/>
              </a:ext>
            </a:extLst>
          </p:cNvPr>
          <p:cNvSpPr/>
          <p:nvPr/>
        </p:nvSpPr>
        <p:spPr>
          <a:xfrm>
            <a:off x="5334000" y="2815583"/>
            <a:ext cx="990600" cy="2286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57401DC-977F-88AD-5BC8-5B8EC1FD2FD6}"/>
              </a:ext>
            </a:extLst>
          </p:cNvPr>
          <p:cNvSpPr/>
          <p:nvPr/>
        </p:nvSpPr>
        <p:spPr>
          <a:xfrm>
            <a:off x="7391400" y="2815583"/>
            <a:ext cx="990600" cy="22860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83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47865-AC24-7510-0F4F-49D3318E2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861D4A2-CD05-2EB1-72F6-1825FC123EAE}"/>
              </a:ext>
            </a:extLst>
          </p:cNvPr>
          <p:cNvSpPr txBox="1"/>
          <p:nvPr/>
        </p:nvSpPr>
        <p:spPr>
          <a:xfrm>
            <a:off x="1295400" y="491028"/>
            <a:ext cx="10668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12- poisoning attacks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4CD6B0C-C88F-9993-CFB4-3D9B76A52857}"/>
              </a:ext>
            </a:extLst>
          </p:cNvPr>
          <p:cNvSpPr txBox="1"/>
          <p:nvPr/>
        </p:nvSpPr>
        <p:spPr>
          <a:xfrm>
            <a:off x="146596" y="2646255"/>
            <a:ext cx="17754600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Poisoning attacks: </a:t>
            </a: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they happen when an attacker inserts malicious data.</a:t>
            </a: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endParaRPr lang="en-US" sz="3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Types of poisoning attacks:</a:t>
            </a:r>
          </a:p>
          <a:p>
            <a:pPr marL="914400" lvl="1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poisoning: the attacker corrupts the training data itself.</a:t>
            </a:r>
          </a:p>
          <a:p>
            <a:pPr marL="914400" lvl="1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Model poisoning: the attacker directly changes the model updates sent to the server.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D5C15F6A-DE90-3D53-E1A6-69A2BD312220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923733B-429D-CD75-3B06-98D2F8DFC961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44E791B0-5F7F-3E87-D976-A45C29290DD0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2440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8625" y="5221973"/>
            <a:ext cx="19065250" cy="4036327"/>
            <a:chOff x="0" y="0"/>
            <a:chExt cx="5021300" cy="1063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21300" cy="1063065"/>
            </a:xfrm>
            <a:custGeom>
              <a:avLst/>
              <a:gdLst/>
              <a:ahLst/>
              <a:cxnLst/>
              <a:rect l="l" t="t" r="r" b="b"/>
              <a:pathLst>
                <a:path w="5021300" h="1063065">
                  <a:moveTo>
                    <a:pt x="8121" y="0"/>
                  </a:moveTo>
                  <a:lnTo>
                    <a:pt x="5013179" y="0"/>
                  </a:lnTo>
                  <a:cubicBezTo>
                    <a:pt x="5015333" y="0"/>
                    <a:pt x="5017399" y="856"/>
                    <a:pt x="5018922" y="2379"/>
                  </a:cubicBezTo>
                  <a:cubicBezTo>
                    <a:pt x="5020445" y="3902"/>
                    <a:pt x="5021300" y="5968"/>
                    <a:pt x="5021300" y="8121"/>
                  </a:cubicBezTo>
                  <a:lnTo>
                    <a:pt x="5021300" y="1054944"/>
                  </a:lnTo>
                  <a:cubicBezTo>
                    <a:pt x="5021300" y="1057098"/>
                    <a:pt x="5020445" y="1059164"/>
                    <a:pt x="5018922" y="1060687"/>
                  </a:cubicBezTo>
                  <a:cubicBezTo>
                    <a:pt x="5017399" y="1062210"/>
                    <a:pt x="5015333" y="1063065"/>
                    <a:pt x="5013179" y="1063065"/>
                  </a:cubicBezTo>
                  <a:lnTo>
                    <a:pt x="8121" y="1063065"/>
                  </a:lnTo>
                  <a:cubicBezTo>
                    <a:pt x="5968" y="1063065"/>
                    <a:pt x="3902" y="1062210"/>
                    <a:pt x="2379" y="1060687"/>
                  </a:cubicBezTo>
                  <a:cubicBezTo>
                    <a:pt x="856" y="1059164"/>
                    <a:pt x="0" y="1057098"/>
                    <a:pt x="0" y="1054944"/>
                  </a:cubicBezTo>
                  <a:lnTo>
                    <a:pt x="0" y="8121"/>
                  </a:lnTo>
                  <a:cubicBezTo>
                    <a:pt x="0" y="5968"/>
                    <a:pt x="856" y="3902"/>
                    <a:pt x="2379" y="2379"/>
                  </a:cubicBezTo>
                  <a:cubicBezTo>
                    <a:pt x="3902" y="856"/>
                    <a:pt x="5968" y="0"/>
                    <a:pt x="8121" y="0"/>
                  </a:cubicBezTo>
                  <a:close/>
                </a:path>
              </a:pathLst>
            </a:custGeom>
            <a:solidFill>
              <a:srgbClr val="02B676">
                <a:alpha val="1490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5021300" cy="1072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66"/>
                </a:lnSpc>
              </a:pPr>
              <a:endParaRPr/>
            </a:p>
            <a:p>
              <a:pPr algn="ctr">
                <a:lnSpc>
                  <a:spcPts val="2266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14266" y="977606"/>
            <a:ext cx="100965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Gaps in the literature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505200" y="4146774"/>
            <a:ext cx="1306762" cy="13067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12566" y="0"/>
                  </a:moveTo>
                  <a:lnTo>
                    <a:pt x="700234" y="0"/>
                  </a:lnTo>
                  <a:cubicBezTo>
                    <a:pt x="762403" y="0"/>
                    <a:pt x="812800" y="50397"/>
                    <a:pt x="812800" y="112566"/>
                  </a:cubicBezTo>
                  <a:lnTo>
                    <a:pt x="812800" y="700234"/>
                  </a:lnTo>
                  <a:cubicBezTo>
                    <a:pt x="812800" y="762403"/>
                    <a:pt x="762403" y="812800"/>
                    <a:pt x="700234" y="812800"/>
                  </a:cubicBezTo>
                  <a:lnTo>
                    <a:pt x="112566" y="812800"/>
                  </a:lnTo>
                  <a:cubicBezTo>
                    <a:pt x="50397" y="812800"/>
                    <a:pt x="0" y="762403"/>
                    <a:pt x="0" y="700234"/>
                  </a:cubicBezTo>
                  <a:lnTo>
                    <a:pt x="0" y="112566"/>
                  </a:lnTo>
                  <a:cubicBezTo>
                    <a:pt x="0" y="50397"/>
                    <a:pt x="50397" y="0"/>
                    <a:pt x="112566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50"/>
                </a:lnSpc>
              </a:pPr>
              <a:r>
                <a:rPr lang="en-US" sz="5000" spc="355">
                  <a:solidFill>
                    <a:srgbClr val="FDF8F8"/>
                  </a:solidFill>
                  <a:latin typeface="Cheddar"/>
                  <a:ea typeface="Cheddar"/>
                  <a:cs typeface="Cheddar"/>
                  <a:sym typeface="Cheddar"/>
                </a:rPr>
                <a:t>01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627493" y="4146774"/>
            <a:ext cx="1306762" cy="130676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12566" y="0"/>
                  </a:moveTo>
                  <a:lnTo>
                    <a:pt x="700234" y="0"/>
                  </a:lnTo>
                  <a:cubicBezTo>
                    <a:pt x="762403" y="0"/>
                    <a:pt x="812800" y="50397"/>
                    <a:pt x="812800" y="112566"/>
                  </a:cubicBezTo>
                  <a:lnTo>
                    <a:pt x="812800" y="700234"/>
                  </a:lnTo>
                  <a:cubicBezTo>
                    <a:pt x="812800" y="762403"/>
                    <a:pt x="762403" y="812800"/>
                    <a:pt x="700234" y="812800"/>
                  </a:cubicBezTo>
                  <a:lnTo>
                    <a:pt x="112566" y="812800"/>
                  </a:lnTo>
                  <a:cubicBezTo>
                    <a:pt x="50397" y="812800"/>
                    <a:pt x="0" y="762403"/>
                    <a:pt x="0" y="700234"/>
                  </a:cubicBezTo>
                  <a:lnTo>
                    <a:pt x="0" y="112566"/>
                  </a:lnTo>
                  <a:cubicBezTo>
                    <a:pt x="0" y="50397"/>
                    <a:pt x="50397" y="0"/>
                    <a:pt x="112566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50"/>
                </a:lnSpc>
              </a:pPr>
              <a:r>
                <a:rPr lang="en-US" sz="5000" spc="355">
                  <a:solidFill>
                    <a:srgbClr val="FDF8F8"/>
                  </a:solidFill>
                  <a:latin typeface="Cheddar"/>
                  <a:ea typeface="Cheddar"/>
                  <a:cs typeface="Cheddar"/>
                  <a:sym typeface="Cheddar"/>
                </a:rPr>
                <a:t>02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76400" y="6722463"/>
            <a:ext cx="5257800" cy="23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080"/>
              </a:lnSpc>
              <a:buFontTx/>
              <a:buChar char="-"/>
            </a:pPr>
            <a:r>
              <a:rPr lang="en-US" sz="2400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Explanations are mostly post hoc (after detection)</a:t>
            </a:r>
          </a:p>
          <a:p>
            <a:pPr marL="342900" indent="-342900" algn="l">
              <a:lnSpc>
                <a:spcPts val="3080"/>
              </a:lnSpc>
              <a:buFontTx/>
              <a:buChar char="-"/>
            </a:pPr>
            <a:r>
              <a:rPr lang="en-US" sz="2400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Explanations are not universal</a:t>
            </a:r>
          </a:p>
          <a:p>
            <a:pPr marL="342900" indent="-342900" algn="l">
              <a:lnSpc>
                <a:spcPts val="3080"/>
              </a:lnSpc>
              <a:buFontTx/>
              <a:buChar char="-"/>
            </a:pPr>
            <a:r>
              <a:rPr lang="en-US" sz="2400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Explanations do not clearly answer what analysts should do next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59712" y="5534240"/>
            <a:ext cx="3397737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Explainable AI in cyberattacks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34800" y="5534240"/>
            <a:ext cx="3267045" cy="101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heddar"/>
                <a:ea typeface="Cheddar"/>
                <a:cs typeface="Cheddar"/>
                <a:sym typeface="Cheddar"/>
              </a:rPr>
              <a:t>AI powered cyberattacks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80CD3DDD-F637-1879-EA2D-2E844C7A0127}"/>
              </a:ext>
            </a:extLst>
          </p:cNvPr>
          <p:cNvSpPr txBox="1"/>
          <p:nvPr/>
        </p:nvSpPr>
        <p:spPr>
          <a:xfrm>
            <a:off x="10820400" y="6722462"/>
            <a:ext cx="5562600" cy="23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ts val="3080"/>
              </a:lnSpc>
              <a:buFontTx/>
              <a:buChar char="-"/>
            </a:pPr>
            <a:r>
              <a:rPr lang="en-US" sz="2400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How can security systems catch a cyberattack when the work is split among separate AI programs?</a:t>
            </a:r>
          </a:p>
          <a:p>
            <a:pPr marL="342900" indent="-342900" algn="l">
              <a:lnSpc>
                <a:spcPts val="3080"/>
              </a:lnSpc>
              <a:buFontTx/>
              <a:buChar char="-"/>
            </a:pPr>
            <a:r>
              <a:rPr lang="en-US" sz="2400" dirty="0">
                <a:solidFill>
                  <a:srgbClr val="290606"/>
                </a:solidFill>
                <a:latin typeface="Telegraf"/>
                <a:ea typeface="Telegraf"/>
                <a:cs typeface="Telegraf"/>
                <a:sym typeface="Telegraf"/>
              </a:rPr>
              <a:t>How can we reveal that these programs are secretly working together?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1203040"/>
            <a:ext cx="8115300" cy="8893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dirty="0"/>
              <a:t>El Naqa, I., Murphy, M.J. (2015). What Is Machine Learning?. In: El Naqa, I., Li, R., 	Murphy, M. (eds) Machine Learning in Radiation Oncology. Springer, Cham. 	</a:t>
            </a:r>
            <a:r>
              <a:rPr lang="en-US" dirty="0">
                <a:hlinkClick r:id="rId2"/>
              </a:rPr>
              <a:t>https://doi.org/10.1007/978-3-319-18305-3_1</a:t>
            </a:r>
            <a:endParaRPr lang="en-US" dirty="0"/>
          </a:p>
          <a:p>
            <a:pPr>
              <a:lnSpc>
                <a:spcPts val="2880"/>
              </a:lnSpc>
            </a:pPr>
            <a:r>
              <a:rPr lang="en-US" dirty="0"/>
              <a:t>Sutton, R. S., &amp; Barto, A. G. (1999). Reinforcement learning. </a:t>
            </a:r>
            <a:r>
              <a:rPr lang="en-US" i="1" dirty="0"/>
              <a:t>Journal of Cognitive 	Neuroscience</a:t>
            </a:r>
            <a:r>
              <a:rPr lang="en-US" dirty="0"/>
              <a:t>, </a:t>
            </a:r>
            <a:r>
              <a:rPr lang="en-US" i="1" dirty="0"/>
              <a:t>11</a:t>
            </a:r>
            <a:r>
              <a:rPr lang="en-US" dirty="0"/>
              <a:t>(1), 126-134.</a:t>
            </a:r>
          </a:p>
          <a:p>
            <a:pPr>
              <a:lnSpc>
                <a:spcPts val="2880"/>
              </a:lnSpc>
            </a:pPr>
            <a:r>
              <a:rPr lang="en-US" dirty="0"/>
              <a:t>Chatila, R. </a:t>
            </a:r>
            <a:r>
              <a:rPr lang="en-US" i="1" dirty="0"/>
              <a:t>et al.</a:t>
            </a:r>
            <a:r>
              <a:rPr lang="en-US" dirty="0"/>
              <a:t> (2021). Trustworthy AI. In: Braunschweig, B., Ghallab, M. (eds) 	Reflections on Artificial Intelligence for Humanity. Lecture Notes in Computer 	Science(), vol 12600. Springer, Cham. </a:t>
            </a:r>
            <a:r>
              <a:rPr lang="en-US" dirty="0">
                <a:hlinkClick r:id="rId3"/>
              </a:rPr>
              <a:t>https://doi.org/10.1007/978-3-030-	69128-8_2</a:t>
            </a:r>
            <a:endParaRPr lang="en-US" dirty="0"/>
          </a:p>
          <a:p>
            <a:pPr>
              <a:lnSpc>
                <a:spcPts val="2880"/>
              </a:lnSpc>
            </a:pPr>
            <a:r>
              <a:rPr lang="en-US" dirty="0" err="1"/>
              <a:t>Kasneci</a:t>
            </a:r>
            <a:r>
              <a:rPr lang="en-US" dirty="0"/>
              <a:t>, E., </a:t>
            </a:r>
            <a:r>
              <a:rPr lang="en-US" dirty="0" err="1"/>
              <a:t>Seßler</a:t>
            </a:r>
            <a:r>
              <a:rPr lang="en-US" dirty="0"/>
              <a:t>, K., </a:t>
            </a:r>
            <a:r>
              <a:rPr lang="en-US" dirty="0" err="1"/>
              <a:t>Küchemann</a:t>
            </a:r>
            <a:r>
              <a:rPr lang="en-US" dirty="0"/>
              <a:t>, S., Bannert, M., Dementieva, D., Fischer, F., ... &amp; 	</a:t>
            </a:r>
            <a:r>
              <a:rPr lang="en-US" dirty="0" err="1"/>
              <a:t>Kasneci</a:t>
            </a:r>
            <a:r>
              <a:rPr lang="en-US" dirty="0"/>
              <a:t>, G. (2023). ChatGPT for good? On opportunities and challenges of 	large language models for education. </a:t>
            </a:r>
            <a:r>
              <a:rPr lang="en-US" i="1" dirty="0"/>
              <a:t>Learning and individual 	differences</a:t>
            </a:r>
            <a:r>
              <a:rPr lang="en-US" dirty="0"/>
              <a:t>, </a:t>
            </a:r>
            <a:r>
              <a:rPr lang="en-US" i="1" dirty="0"/>
              <a:t>103</a:t>
            </a:r>
            <a:r>
              <a:rPr lang="en-US" dirty="0"/>
              <a:t>, 102274.</a:t>
            </a:r>
          </a:p>
          <a:p>
            <a:pPr>
              <a:lnSpc>
                <a:spcPts val="2880"/>
              </a:lnSpc>
            </a:pPr>
            <a:r>
              <a:rPr lang="en-US" dirty="0"/>
              <a:t>Xu, F., </a:t>
            </a:r>
            <a:r>
              <a:rPr lang="en-US" dirty="0" err="1"/>
              <a:t>Uszkoreit</a:t>
            </a:r>
            <a:r>
              <a:rPr lang="en-US" dirty="0"/>
              <a:t>, H., Du, Y., Fan, W., Zhao, D., Zhu, J. (2019). Explainable AI: A Brief 	Survey on History, Research Areas, Approaches and Challenges. In: Tang, J., 	Kan, MY., Zhao, D., Li, S., Zan, H. (eds) Natural Language Processing and 	Chinese Computing. NLPCC 2019. Lecture Notes in Computer Science(), vol 	11839. Springer, Cham. </a:t>
            </a:r>
            <a:r>
              <a:rPr lang="en-US" dirty="0">
                <a:hlinkClick r:id="rId4"/>
              </a:rPr>
              <a:t>https://doi.org/10.1007/978-3-030-32236-6_51</a:t>
            </a:r>
            <a:endParaRPr lang="en-US" dirty="0"/>
          </a:p>
          <a:p>
            <a:pPr>
              <a:lnSpc>
                <a:spcPts val="2880"/>
              </a:lnSpc>
            </a:pPr>
            <a:r>
              <a:rPr lang="en-US" dirty="0"/>
              <a:t>Wen, J., Zhang, Z., Lan, Y. </a:t>
            </a:r>
            <a:r>
              <a:rPr lang="en-US" i="1" dirty="0"/>
              <a:t>et al.</a:t>
            </a:r>
            <a:r>
              <a:rPr lang="en-US" dirty="0"/>
              <a:t> A survey on federated learning: challenges and 	applications. </a:t>
            </a:r>
            <a:r>
              <a:rPr lang="en-US" i="1" dirty="0"/>
              <a:t>Int. J. Mach. Learn. &amp; Cyber.</a:t>
            </a:r>
            <a:r>
              <a:rPr lang="en-US" dirty="0"/>
              <a:t> </a:t>
            </a:r>
            <a:r>
              <a:rPr lang="en-US" b="1" dirty="0"/>
              <a:t>14</a:t>
            </a:r>
            <a:r>
              <a:rPr lang="en-US" dirty="0"/>
              <a:t>, 513–535 (2023). 	</a:t>
            </a:r>
            <a:r>
              <a:rPr lang="en-US" dirty="0">
                <a:hlinkClick r:id="rId5"/>
              </a:rPr>
              <a:t>https://doi.org/10.1007/s13042-022-01647-y</a:t>
            </a:r>
            <a:endParaRPr lang="en-US" dirty="0"/>
          </a:p>
          <a:p>
            <a:pPr>
              <a:lnSpc>
                <a:spcPts val="2880"/>
              </a:lnSpc>
            </a:pPr>
            <a:r>
              <a:rPr lang="en-US" i="1" dirty="0"/>
              <a:t>A survey on IoT security: application areas, security threats, and solution architectures</a:t>
            </a:r>
            <a:r>
              <a:rPr lang="en-US" dirty="0"/>
              <a:t>. 	(2019). IEEE Journals &amp; Magazine | IEEE 	Xplore. https://ieeexplore.ieee.org/abstract/document/8742551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8600" y="190500"/>
            <a:ext cx="811530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references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C66EA73-6DC6-5ADC-117E-83C0457327FF}"/>
              </a:ext>
            </a:extLst>
          </p:cNvPr>
          <p:cNvSpPr txBox="1"/>
          <p:nvPr/>
        </p:nvSpPr>
        <p:spPr>
          <a:xfrm>
            <a:off x="10058400" y="1203040"/>
            <a:ext cx="8115300" cy="8147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dirty="0" err="1"/>
              <a:t>Khraisat</a:t>
            </a:r>
            <a:r>
              <a:rPr lang="en-US" dirty="0"/>
              <a:t>, A., Gondal, I., </a:t>
            </a:r>
            <a:r>
              <a:rPr lang="en-US" dirty="0" err="1"/>
              <a:t>Vamplew</a:t>
            </a:r>
            <a:r>
              <a:rPr lang="en-US" dirty="0"/>
              <a:t>, P. </a:t>
            </a:r>
            <a:r>
              <a:rPr lang="en-US" i="1" dirty="0"/>
              <a:t>et al.</a:t>
            </a:r>
            <a:r>
              <a:rPr lang="en-US" dirty="0"/>
              <a:t> Survey of intrusion detection systems: 	techniques, datasets and challenges. </a:t>
            </a:r>
            <a:r>
              <a:rPr lang="en-US" i="1" dirty="0" err="1"/>
              <a:t>Cybersecur</a:t>
            </a:r>
            <a:r>
              <a:rPr lang="en-US" dirty="0"/>
              <a:t> </a:t>
            </a:r>
            <a:r>
              <a:rPr lang="en-US" b="1" dirty="0"/>
              <a:t>2</a:t>
            </a:r>
            <a:r>
              <a:rPr lang="en-US" dirty="0"/>
              <a:t>, 20 (2019). 	</a:t>
            </a:r>
            <a:r>
              <a:rPr lang="en-US" dirty="0">
                <a:hlinkClick r:id="rId6"/>
              </a:rPr>
              <a:t>https://doi.org/10.1186/s42400-019-0038-7</a:t>
            </a:r>
            <a:endParaRPr lang="en-US" dirty="0"/>
          </a:p>
          <a:p>
            <a:pPr>
              <a:lnSpc>
                <a:spcPts val="2880"/>
              </a:lnSpc>
            </a:pPr>
            <a:r>
              <a:rPr lang="en-US" dirty="0"/>
              <a:t>Happe, A., &amp; Cito, J. (2023). Understanding Hackers’ Work: An Empirical Study of 	Offensive Security Practitioners. </a:t>
            </a:r>
            <a:r>
              <a:rPr lang="en-US" i="1" dirty="0"/>
              <a:t>ACM</a:t>
            </a:r>
            <a:r>
              <a:rPr lang="en-US" dirty="0"/>
              <a:t>, 1669–1680. 	</a:t>
            </a:r>
            <a:r>
              <a:rPr lang="en-US" u="sng" dirty="0">
                <a:hlinkClick r:id="rId7"/>
              </a:rPr>
              <a:t>https://doi.org/10.1145/3611643.3613900</a:t>
            </a:r>
            <a:endParaRPr lang="en-US" u="sng" dirty="0"/>
          </a:p>
          <a:p>
            <a:pPr>
              <a:lnSpc>
                <a:spcPts val="2880"/>
              </a:lnSpc>
            </a:pPr>
            <a:r>
              <a:rPr lang="en-US" dirty="0" err="1"/>
              <a:t>Gandotra</a:t>
            </a:r>
            <a:r>
              <a:rPr lang="en-US" dirty="0"/>
              <a:t>, E., Bansal, D., &amp; </a:t>
            </a:r>
            <a:r>
              <a:rPr lang="en-US" dirty="0" err="1"/>
              <a:t>Sofat</a:t>
            </a:r>
            <a:r>
              <a:rPr lang="en-US" dirty="0"/>
              <a:t>, S. (2014). Malware analysis and classification: A 	survey. </a:t>
            </a:r>
            <a:r>
              <a:rPr lang="en-US" i="1" dirty="0"/>
              <a:t>Journal of Information Security</a:t>
            </a:r>
            <a:r>
              <a:rPr lang="en-US" dirty="0"/>
              <a:t>, </a:t>
            </a:r>
            <a:r>
              <a:rPr lang="en-US" i="1" dirty="0"/>
              <a:t>5</a:t>
            </a:r>
            <a:r>
              <a:rPr lang="en-US" dirty="0"/>
              <a:t>(2), 56.</a:t>
            </a:r>
          </a:p>
          <a:p>
            <a:pPr>
              <a:lnSpc>
                <a:spcPts val="2880"/>
              </a:lnSpc>
            </a:pPr>
            <a:r>
              <a:rPr lang="en-US" i="1" dirty="0"/>
              <a:t>Network security basics</a:t>
            </a:r>
            <a:r>
              <a:rPr lang="en-US" dirty="0"/>
              <a:t>. (2005, December 1). IEEE Journals &amp; Magazine | IEEE 	Xplore. https://ieeexplore.ieee.org/abstract/document/1556540</a:t>
            </a:r>
          </a:p>
          <a:p>
            <a:pPr>
              <a:lnSpc>
                <a:spcPts val="2880"/>
              </a:lnSpc>
            </a:pPr>
            <a:r>
              <a:rPr lang="en-US" dirty="0"/>
              <a:t>Bhagyavati, Summers, W. C., &amp; </a:t>
            </a:r>
            <a:r>
              <a:rPr lang="en-US" dirty="0" err="1"/>
              <a:t>DeJoie</a:t>
            </a:r>
            <a:r>
              <a:rPr lang="en-US" dirty="0"/>
              <a:t>, A. (2004, October). Wireless security 	techniques: an overview. In </a:t>
            </a:r>
            <a:r>
              <a:rPr lang="en-US" i="1" dirty="0"/>
              <a:t>Proceedings of the 1st annual conference on 	Information security curriculum development</a:t>
            </a:r>
            <a:r>
              <a:rPr lang="en-US" dirty="0"/>
              <a:t> (pp. 82-87).</a:t>
            </a:r>
          </a:p>
          <a:p>
            <a:pPr>
              <a:lnSpc>
                <a:spcPts val="2880"/>
              </a:lnSpc>
            </a:pPr>
            <a:r>
              <a:rPr lang="en-US" dirty="0"/>
              <a:t>Jose, A. C., &amp; Malekian, R. (2015). Smart home automation security: A literature 	review: A literature review. </a:t>
            </a:r>
            <a:r>
              <a:rPr lang="en-US" i="1" dirty="0" err="1"/>
              <a:t>SmartCR</a:t>
            </a:r>
            <a:r>
              <a:rPr lang="en-US" dirty="0"/>
              <a:t>, </a:t>
            </a:r>
            <a:r>
              <a:rPr lang="en-US" i="1" dirty="0"/>
              <a:t>5</a:t>
            </a:r>
            <a:r>
              <a:rPr lang="en-US" dirty="0"/>
              <a:t>(4), 269-285.</a:t>
            </a:r>
          </a:p>
          <a:p>
            <a:pPr>
              <a:lnSpc>
                <a:spcPts val="2880"/>
              </a:lnSpc>
            </a:pPr>
            <a:r>
              <a:rPr lang="en-US" dirty="0"/>
              <a:t>Singh, A., &amp; Chatterjee, K. (2017). Cloud security issues and challenges: A 	survey. </a:t>
            </a:r>
            <a:r>
              <a:rPr lang="en-US" i="1" dirty="0"/>
              <a:t>Journal of Network and Computer Applications</a:t>
            </a:r>
            <a:r>
              <a:rPr lang="en-US" dirty="0"/>
              <a:t>, </a:t>
            </a:r>
            <a:r>
              <a:rPr lang="en-US" i="1" dirty="0"/>
              <a:t>79</a:t>
            </a:r>
            <a:r>
              <a:rPr lang="en-US" dirty="0"/>
              <a:t>, 88-115.</a:t>
            </a:r>
          </a:p>
          <a:p>
            <a:pPr>
              <a:lnSpc>
                <a:spcPts val="2880"/>
              </a:lnSpc>
            </a:pPr>
            <a:r>
              <a:rPr lang="en-US" dirty="0"/>
              <a:t>Xiao, Y., Jia, Y., Liu, C., Cheng, X., Yu, J., &amp; </a:t>
            </a:r>
            <a:r>
              <a:rPr lang="en-US" dirty="0" err="1"/>
              <a:t>Lv</a:t>
            </a:r>
            <a:r>
              <a:rPr lang="en-US" dirty="0"/>
              <a:t>, W. (2019). Edge computing security: State 	of the art and challenges. </a:t>
            </a:r>
            <a:r>
              <a:rPr lang="en-US" i="1" dirty="0"/>
              <a:t>Proceedings of the IEEE</a:t>
            </a:r>
            <a:r>
              <a:rPr lang="en-US" dirty="0"/>
              <a:t>, </a:t>
            </a:r>
            <a:r>
              <a:rPr lang="en-US" i="1" dirty="0"/>
              <a:t>107</a:t>
            </a:r>
            <a:r>
              <a:rPr lang="en-US" dirty="0"/>
              <a:t>(8), 1608-1631.</a:t>
            </a:r>
          </a:p>
          <a:p>
            <a:pPr>
              <a:lnSpc>
                <a:spcPts val="2880"/>
              </a:lnSpc>
            </a:pPr>
            <a:r>
              <a:rPr lang="en-US" dirty="0" err="1"/>
              <a:t>Stojmenovic</a:t>
            </a:r>
            <a:r>
              <a:rPr lang="en-US" dirty="0"/>
              <a:t>, I., Wen, S., Huang, X., &amp; Luan, H. (2016). An overview of fog computing 	and its security issues. </a:t>
            </a:r>
            <a:r>
              <a:rPr lang="en-US" i="1" dirty="0"/>
              <a:t>Concurrency and Computation: Practice and 	Experience</a:t>
            </a:r>
            <a:r>
              <a:rPr lang="en-US" dirty="0"/>
              <a:t>, </a:t>
            </a:r>
            <a:r>
              <a:rPr lang="en-US" i="1" dirty="0"/>
              <a:t>28</a:t>
            </a:r>
            <a:r>
              <a:rPr lang="en-US" dirty="0"/>
              <a:t>(10), 2991-3005.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435E0-744F-4576-1EEC-79DEBBA4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36CB7A2-5936-E0B9-3E21-DB4559E3FFDD}"/>
              </a:ext>
            </a:extLst>
          </p:cNvPr>
          <p:cNvSpPr txBox="1"/>
          <p:nvPr/>
        </p:nvSpPr>
        <p:spPr>
          <a:xfrm>
            <a:off x="6096000" y="4457700"/>
            <a:ext cx="6096000" cy="998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9600" spc="342" dirty="0">
                <a:solidFill>
                  <a:srgbClr val="C00000"/>
                </a:solidFill>
                <a:latin typeface="Candara Light" panose="020E0502030303020204" pitchFamily="34" charset="0"/>
                <a:ea typeface="Cheddar"/>
                <a:cs typeface="Cheddar"/>
                <a:sym typeface="Cheddar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9310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1279</TotalTime>
  <Words>1601</Words>
  <Application>Microsoft Office PowerPoint</Application>
  <PresentationFormat>Custom</PresentationFormat>
  <Paragraphs>189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Telegraf Bold</vt:lpstr>
      <vt:lpstr>Candara Light</vt:lpstr>
      <vt:lpstr>Arial</vt:lpstr>
      <vt:lpstr>Cheddar</vt:lpstr>
      <vt:lpstr>Telegraf</vt:lpstr>
      <vt:lpstr>ADLaM Display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Orange Vibrant Animated AI and Machine Learning Presentation</dc:title>
  <cp:lastModifiedBy>Theresa Maria Ghantous (Student)</cp:lastModifiedBy>
  <cp:revision>15</cp:revision>
  <dcterms:created xsi:type="dcterms:W3CDTF">2006-08-16T00:00:00Z</dcterms:created>
  <dcterms:modified xsi:type="dcterms:W3CDTF">2026-05-28T12:10:55Z</dcterms:modified>
  <dc:identifier>DAHKT9QsfvM</dc:identifier>
</cp:coreProperties>
</file>